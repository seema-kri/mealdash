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umari" userId="e8692590cf0392b3" providerId="LiveId" clId="{5BADF45A-0748-4648-AD44-F9C0ACA622D1}"/>
    <pc:docChg chg="custSel modSld">
      <pc:chgData name="Seema Kumari" userId="e8692590cf0392b3" providerId="LiveId" clId="{5BADF45A-0748-4648-AD44-F9C0ACA622D1}" dt="2026-08-24T18:07:38.557" v="2" actId="21"/>
      <pc:docMkLst>
        <pc:docMk/>
      </pc:docMkLst>
      <pc:sldChg chg="delSp mod">
        <pc:chgData name="Seema Kumari" userId="e8692590cf0392b3" providerId="LiveId" clId="{5BADF45A-0748-4648-AD44-F9C0ACA622D1}" dt="2026-08-24T18:07:38.557" v="2" actId="21"/>
        <pc:sldMkLst>
          <pc:docMk/>
          <pc:sldMk cId="0" sldId="264"/>
        </pc:sldMkLst>
        <pc:spChg chg="del">
          <ac:chgData name="Seema Kumari" userId="e8692590cf0392b3" providerId="LiveId" clId="{5BADF45A-0748-4648-AD44-F9C0ACA622D1}" dt="2026-08-24T18:07:38.557" v="2" actId="21"/>
          <ac:spMkLst>
            <pc:docMk/>
            <pc:sldMk cId="0" sldId="264"/>
            <ac:spMk id="2" creationId="{00000000-0000-0000-0000-000000000000}"/>
          </ac:spMkLst>
        </pc:spChg>
      </pc:sldChg>
      <pc:sldChg chg="delSp mod">
        <pc:chgData name="Seema Kumari" userId="e8692590cf0392b3" providerId="LiveId" clId="{5BADF45A-0748-4648-AD44-F9C0ACA622D1}" dt="2026-08-24T18:07:34.811" v="1" actId="21"/>
        <pc:sldMkLst>
          <pc:docMk/>
          <pc:sldMk cId="0" sldId="266"/>
        </pc:sldMkLst>
        <pc:spChg chg="del">
          <ac:chgData name="Seema Kumari" userId="e8692590cf0392b3" providerId="LiveId" clId="{5BADF45A-0748-4648-AD44-F9C0ACA622D1}" dt="2026-08-24T18:07:32.189" v="0" actId="21"/>
          <ac:spMkLst>
            <pc:docMk/>
            <pc:sldMk cId="0" sldId="266"/>
            <ac:spMk id="2" creationId="{00000000-0000-0000-0000-000000000000}"/>
          </ac:spMkLst>
        </pc:spChg>
        <pc:spChg chg="del">
          <ac:chgData name="Seema Kumari" userId="e8692590cf0392b3" providerId="LiveId" clId="{5BADF45A-0748-4648-AD44-F9C0ACA622D1}" dt="2026-08-24T18:07:34.811" v="1" actId="21"/>
          <ac:spMkLst>
            <pc:docMk/>
            <pc:sldMk cId="0" sldId="26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4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app.fabric.microsoft.com/links/SJ5wVO19En?ctid=e93d71d6-b5c0-4b78-a861-d9964ecdfcd6&amp;pbi_source=linkShare&amp;bookmarkGuid=c964f109-a243-4282-9765-edfe9330625c"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C5E"/>
        </a:solidFill>
        <a:effectLst/>
      </p:bgPr>
    </p:bg>
    <p:spTree>
      <p:nvGrpSpPr>
        <p:cNvPr id="1" name=""/>
        <p:cNvGrpSpPr/>
        <p:nvPr/>
      </p:nvGrpSpPr>
      <p:grpSpPr>
        <a:xfrm>
          <a:off x="0" y="0"/>
          <a:ext cx="0" cy="0"/>
          <a:chOff x="0" y="0"/>
          <a:chExt cx="0" cy="0"/>
        </a:xfrm>
      </p:grpSpPr>
      <p:sp>
        <p:nvSpPr>
          <p:cNvPr id="4" name="Text 2"/>
          <p:cNvSpPr/>
          <p:nvPr/>
        </p:nvSpPr>
        <p:spPr>
          <a:xfrm>
            <a:off x="822960" y="1965960"/>
            <a:ext cx="9144000" cy="548640"/>
          </a:xfrm>
          <a:prstGeom prst="rect">
            <a:avLst/>
          </a:prstGeom>
          <a:noFill/>
          <a:ln/>
        </p:spPr>
        <p:txBody>
          <a:bodyPr wrap="square" rtlCol="0" anchor="ctr"/>
          <a:lstStyle/>
          <a:p>
            <a:pPr marL="0" indent="0">
              <a:buNone/>
            </a:pPr>
            <a:r>
              <a:rPr lang="en-US" sz="2400" b="1" kern="0" spc="300" dirty="0">
                <a:solidFill>
                  <a:srgbClr val="F9E795"/>
                </a:solidFill>
                <a:latin typeface="Calibri" pitchFamily="34" charset="0"/>
                <a:ea typeface="Calibri" pitchFamily="34" charset="-122"/>
                <a:cs typeface="Calibri" pitchFamily="34" charset="-120"/>
              </a:rPr>
              <a:t>🍔MEALDASH</a:t>
            </a:r>
            <a:endParaRPr lang="en-US" sz="2400" dirty="0"/>
          </a:p>
        </p:txBody>
      </p:sp>
      <p:sp>
        <p:nvSpPr>
          <p:cNvPr id="5" name="Text 3"/>
          <p:cNvSpPr/>
          <p:nvPr/>
        </p:nvSpPr>
        <p:spPr>
          <a:xfrm>
            <a:off x="777240" y="2331720"/>
            <a:ext cx="10515600" cy="118872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Delivery Operations Analytics</a:t>
            </a:r>
            <a:endParaRPr lang="en-US" sz="4800" dirty="0"/>
          </a:p>
        </p:txBody>
      </p:sp>
      <p:sp>
        <p:nvSpPr>
          <p:cNvPr id="6" name="Text 4"/>
          <p:cNvSpPr/>
          <p:nvPr/>
        </p:nvSpPr>
        <p:spPr>
          <a:xfrm>
            <a:off x="822960" y="3429000"/>
            <a:ext cx="8961120" cy="822960"/>
          </a:xfrm>
          <a:prstGeom prst="rect">
            <a:avLst/>
          </a:prstGeom>
          <a:noFill/>
          <a:ln/>
        </p:spPr>
        <p:txBody>
          <a:bodyPr wrap="square" rtlCol="0" anchor="ctr"/>
          <a:lstStyle/>
          <a:p>
            <a:pPr marL="0" indent="0">
              <a:lnSpc>
                <a:spcPct val="125000"/>
              </a:lnSpc>
              <a:buNone/>
            </a:pPr>
            <a:r>
              <a:rPr lang="en-US" sz="1600" dirty="0">
                <a:solidFill>
                  <a:srgbClr val="C9CCDC"/>
                </a:solidFill>
                <a:latin typeface="Calibri" pitchFamily="34" charset="0"/>
                <a:ea typeface="Calibri" pitchFamily="34" charset="-122"/>
                <a:cs typeface="Calibri" pitchFamily="34" charset="-120"/>
              </a:rPr>
              <a:t>Diagnosing why delivery times vary across 45,000+ quick-commerce orders </a:t>
            </a:r>
            <a:endParaRPr lang="en-US" sz="1600" dirty="0"/>
          </a:p>
          <a:p>
            <a:pPr marL="0" indent="0">
              <a:lnSpc>
                <a:spcPct val="125000"/>
              </a:lnSpc>
              <a:buNone/>
            </a:pPr>
            <a:r>
              <a:rPr lang="en-US" sz="1600" dirty="0">
                <a:solidFill>
                  <a:srgbClr val="C9CCDC"/>
                </a:solidFill>
                <a:latin typeface="Calibri" pitchFamily="34" charset="0"/>
                <a:ea typeface="Calibri" pitchFamily="34" charset="-122"/>
                <a:cs typeface="Calibri" pitchFamily="34" charset="-120"/>
              </a:rPr>
              <a:t>and turning it into three specific, actionable recommendations.</a:t>
            </a:r>
            <a:endParaRPr lang="en-US" sz="1600" dirty="0"/>
          </a:p>
        </p:txBody>
      </p:sp>
      <p:sp>
        <p:nvSpPr>
          <p:cNvPr id="7" name="Shape 5"/>
          <p:cNvSpPr/>
          <p:nvPr/>
        </p:nvSpPr>
        <p:spPr>
          <a:xfrm>
            <a:off x="822960" y="4709160"/>
            <a:ext cx="2080260" cy="384048"/>
          </a:xfrm>
          <a:prstGeom prst="roundRect">
            <a:avLst>
              <a:gd name="adj" fmla="val 50000"/>
            </a:avLst>
          </a:prstGeom>
          <a:solidFill>
            <a:srgbClr val="2F3C7E"/>
          </a:solidFill>
          <a:ln w="12700">
            <a:solidFill>
              <a:srgbClr val="F96167"/>
            </a:solidFill>
            <a:prstDash val="solid"/>
          </a:ln>
        </p:spPr>
      </p:sp>
      <p:sp>
        <p:nvSpPr>
          <p:cNvPr id="8" name="Text 6"/>
          <p:cNvSpPr/>
          <p:nvPr/>
        </p:nvSpPr>
        <p:spPr>
          <a:xfrm>
            <a:off x="822960" y="4709160"/>
            <a:ext cx="20802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Excel (Power Query)</a:t>
            </a:r>
            <a:endParaRPr lang="en-US" sz="1200" dirty="0"/>
          </a:p>
        </p:txBody>
      </p:sp>
      <p:sp>
        <p:nvSpPr>
          <p:cNvPr id="9" name="Shape 7"/>
          <p:cNvSpPr/>
          <p:nvPr/>
        </p:nvSpPr>
        <p:spPr>
          <a:xfrm>
            <a:off x="3104388" y="4709160"/>
            <a:ext cx="544068" cy="384048"/>
          </a:xfrm>
          <a:prstGeom prst="roundRect">
            <a:avLst>
              <a:gd name="adj" fmla="val 50000"/>
            </a:avLst>
          </a:prstGeom>
          <a:solidFill>
            <a:srgbClr val="2F3C7E"/>
          </a:solidFill>
          <a:ln w="12700">
            <a:solidFill>
              <a:srgbClr val="F96167"/>
            </a:solidFill>
            <a:prstDash val="solid"/>
          </a:ln>
        </p:spPr>
      </p:sp>
      <p:sp>
        <p:nvSpPr>
          <p:cNvPr id="10" name="Text 8"/>
          <p:cNvSpPr/>
          <p:nvPr/>
        </p:nvSpPr>
        <p:spPr>
          <a:xfrm>
            <a:off x="3104388" y="4709160"/>
            <a:ext cx="54406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SQL</a:t>
            </a:r>
            <a:endParaRPr lang="en-US" sz="1200" dirty="0"/>
          </a:p>
        </p:txBody>
      </p:sp>
      <p:sp>
        <p:nvSpPr>
          <p:cNvPr id="11" name="Shape 9"/>
          <p:cNvSpPr/>
          <p:nvPr/>
        </p:nvSpPr>
        <p:spPr>
          <a:xfrm>
            <a:off x="3849624" y="4709160"/>
            <a:ext cx="1792224" cy="384048"/>
          </a:xfrm>
          <a:prstGeom prst="roundRect">
            <a:avLst>
              <a:gd name="adj" fmla="val 50000"/>
            </a:avLst>
          </a:prstGeom>
          <a:solidFill>
            <a:srgbClr val="2F3C7E"/>
          </a:solidFill>
          <a:ln w="12700">
            <a:solidFill>
              <a:srgbClr val="F96167"/>
            </a:solidFill>
            <a:prstDash val="solid"/>
          </a:ln>
        </p:spPr>
      </p:sp>
      <p:sp>
        <p:nvSpPr>
          <p:cNvPr id="12" name="Text 10"/>
          <p:cNvSpPr/>
          <p:nvPr/>
        </p:nvSpPr>
        <p:spPr>
          <a:xfrm>
            <a:off x="3849624" y="4709160"/>
            <a:ext cx="1792224"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Microsoft Fabric</a:t>
            </a:r>
            <a:endParaRPr lang="en-US" sz="1200" dirty="0"/>
          </a:p>
        </p:txBody>
      </p:sp>
      <p:sp>
        <p:nvSpPr>
          <p:cNvPr id="13" name="Shape 11"/>
          <p:cNvSpPr/>
          <p:nvPr/>
        </p:nvSpPr>
        <p:spPr>
          <a:xfrm>
            <a:off x="5843016" y="4709160"/>
            <a:ext cx="1024128" cy="384048"/>
          </a:xfrm>
          <a:prstGeom prst="roundRect">
            <a:avLst>
              <a:gd name="adj" fmla="val 50000"/>
            </a:avLst>
          </a:prstGeom>
          <a:solidFill>
            <a:srgbClr val="2F3C7E"/>
          </a:solidFill>
          <a:ln w="12700">
            <a:solidFill>
              <a:srgbClr val="F96167"/>
            </a:solidFill>
            <a:prstDash val="solid"/>
          </a:ln>
        </p:spPr>
      </p:sp>
      <p:sp>
        <p:nvSpPr>
          <p:cNvPr id="14" name="Text 12"/>
          <p:cNvSpPr/>
          <p:nvPr/>
        </p:nvSpPr>
        <p:spPr>
          <a:xfrm>
            <a:off x="5843016" y="4709160"/>
            <a:ext cx="102412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p:txBody>
      </p:sp>
      <p:sp>
        <p:nvSpPr>
          <p:cNvPr id="15" name="Text 13"/>
          <p:cNvSpPr/>
          <p:nvPr/>
        </p:nvSpPr>
        <p:spPr>
          <a:xfrm>
            <a:off x="822960" y="6080760"/>
            <a:ext cx="7315200" cy="365760"/>
          </a:xfrm>
          <a:prstGeom prst="rect">
            <a:avLst/>
          </a:prstGeom>
          <a:noFill/>
          <a:ln/>
        </p:spPr>
        <p:txBody>
          <a:bodyPr wrap="square" rtlCol="0" anchor="ctr"/>
          <a:lstStyle/>
          <a:p>
            <a:pPr marL="0" indent="0">
              <a:buNone/>
            </a:pPr>
            <a:r>
              <a:rPr lang="en-US" sz="1200" i="1" dirty="0">
                <a:solidFill>
                  <a:srgbClr val="9AA0BE"/>
                </a:solidFill>
                <a:latin typeface="Calibri" pitchFamily="34" charset="0"/>
                <a:ea typeface="Calibri" pitchFamily="34" charset="-122"/>
                <a:cs typeface="Calibri" pitchFamily="34" charset="-120"/>
              </a:rPr>
              <a:t>Prepared for: Analytics Leadership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THE BUSINESS PROBLEM</a:t>
            </a:r>
            <a:endParaRPr lang="en-US" sz="1300" dirty="0"/>
          </a:p>
        </p:txBody>
      </p:sp>
      <p:sp>
        <p:nvSpPr>
          <p:cNvPr id="3" name="Text 1"/>
          <p:cNvSpPr/>
          <p:nvPr/>
        </p:nvSpPr>
        <p:spPr>
          <a:xfrm>
            <a:off x="548640" y="836676"/>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Nobody knew why delivery times varied  or how to find out fast</a:t>
            </a:r>
            <a:endParaRPr lang="en-US" sz="3200" dirty="0"/>
          </a:p>
        </p:txBody>
      </p:sp>
      <p:sp>
        <p:nvSpPr>
          <p:cNvPr id="4" name="Text 2"/>
          <p:cNvSpPr/>
          <p:nvPr/>
        </p:nvSpPr>
        <p:spPr>
          <a:xfrm>
            <a:off x="548640" y="1600200"/>
            <a:ext cx="6309360" cy="1737360"/>
          </a:xfrm>
          <a:prstGeom prst="rect">
            <a:avLst/>
          </a:prstGeom>
          <a:noFill/>
          <a:ln/>
        </p:spPr>
        <p:txBody>
          <a:bodyPr wrap="square" rtlCol="0" anchor="ctr"/>
          <a:lstStyle/>
          <a:p>
            <a:pPr marL="0" indent="0">
              <a:lnSpc>
                <a:spcPct val="135000"/>
              </a:lnSpc>
              <a:buNone/>
            </a:pPr>
            <a:r>
              <a:rPr lang="en-US" sz="1500" dirty="0">
                <a:solidFill>
                  <a:srgbClr val="23263B"/>
                </a:solidFill>
                <a:latin typeface="Calibri" pitchFamily="34" charset="0"/>
                <a:ea typeface="Calibri" pitchFamily="34" charset="-122"/>
                <a:cs typeface="Calibri" pitchFamily="34" charset="-120"/>
              </a:rPr>
              <a:t>MealDash's delivery times swing widely: some orders arrive in 10 minutes, others take almost an hour. Diagnosing a single slow week meant a data analyst manually digging through raw records for a day or two, with no standing answer to the question ops kept asking:</a:t>
            </a:r>
            <a:endParaRPr lang="en-US" sz="1500" dirty="0"/>
          </a:p>
        </p:txBody>
      </p:sp>
      <p:sp>
        <p:nvSpPr>
          <p:cNvPr id="5" name="Shape 3"/>
          <p:cNvSpPr/>
          <p:nvPr/>
        </p:nvSpPr>
        <p:spPr>
          <a:xfrm>
            <a:off x="548640" y="3337560"/>
            <a:ext cx="6309360" cy="1005840"/>
          </a:xfrm>
          <a:prstGeom prst="roundRect">
            <a:avLst>
              <a:gd name="adj" fmla="val 7273"/>
            </a:avLst>
          </a:prstGeom>
          <a:solidFill>
            <a:srgbClr val="F7F7F9"/>
          </a:solidFill>
          <a:ln w="19050">
            <a:solidFill>
              <a:srgbClr val="F96167"/>
            </a:solidFill>
            <a:prstDash val="solid"/>
          </a:ln>
        </p:spPr>
      </p:sp>
      <p:sp>
        <p:nvSpPr>
          <p:cNvPr id="6" name="Text 4"/>
          <p:cNvSpPr/>
          <p:nvPr/>
        </p:nvSpPr>
        <p:spPr>
          <a:xfrm>
            <a:off x="777240" y="3337560"/>
            <a:ext cx="5852160" cy="1005840"/>
          </a:xfrm>
          <a:prstGeom prst="rect">
            <a:avLst/>
          </a:prstGeom>
          <a:noFill/>
          <a:ln/>
        </p:spPr>
        <p:txBody>
          <a:bodyPr wrap="square" rtlCol="0" anchor="ctr"/>
          <a:lstStyle/>
          <a:p>
            <a:pPr marL="0" indent="0" algn="l">
              <a:buNone/>
            </a:pPr>
            <a:r>
              <a:rPr lang="en-US" sz="1700" b="1" i="1" dirty="0">
                <a:solidFill>
                  <a:srgbClr val="232C5E"/>
                </a:solidFill>
                <a:latin typeface="Cambria" pitchFamily="34" charset="0"/>
                <a:ea typeface="Cambria" pitchFamily="34" charset="-122"/>
                <a:cs typeface="Cambria" pitchFamily="34" charset="-120"/>
              </a:rPr>
              <a:t>“Why was it slow  and what can we actually do about it?”</a:t>
            </a:r>
            <a:endParaRPr lang="en-US" sz="1700" dirty="0"/>
          </a:p>
        </p:txBody>
      </p:sp>
      <p:sp>
        <p:nvSpPr>
          <p:cNvPr id="7" name="Text 5"/>
          <p:cNvSpPr/>
          <p:nvPr/>
        </p:nvSpPr>
        <p:spPr>
          <a:xfrm>
            <a:off x="548640" y="4572000"/>
            <a:ext cx="6309360" cy="1280160"/>
          </a:xfrm>
          <a:prstGeom prst="rect">
            <a:avLst/>
          </a:prstGeom>
          <a:noFill/>
          <a:ln/>
        </p:spPr>
        <p:txBody>
          <a:bodyPr wrap="square" rtlCol="0" anchor="ctr"/>
          <a:lstStyle/>
          <a:p>
            <a:pPr marL="0" indent="0">
              <a:lnSpc>
                <a:spcPct val="130000"/>
              </a:lnSpc>
              <a:buNone/>
            </a:pPr>
            <a:r>
              <a:rPr lang="en-US" sz="1350" dirty="0">
                <a:solidFill>
                  <a:srgbClr val="6B7080"/>
                </a:solidFill>
                <a:latin typeface="Calibri" pitchFamily="34" charset="0"/>
                <a:ea typeface="Calibri" pitchFamily="34" charset="-122"/>
                <a:cs typeface="Calibri" pitchFamily="34" charset="-120"/>
              </a:rPr>
              <a:t>This project answers 10 specific business questions — moving from the overall scale of the problem, to the levers ops can control (traffic, distance, staffing, bundling) versus the ones they can't (weather), and finally to whether performance is trending better or worse over time.</a:t>
            </a:r>
            <a:endParaRPr lang="en-US" sz="1350" dirty="0"/>
          </a:p>
        </p:txBody>
      </p:sp>
      <p:sp>
        <p:nvSpPr>
          <p:cNvPr id="8" name="Shape 6"/>
          <p:cNvSpPr/>
          <p:nvPr/>
        </p:nvSpPr>
        <p:spPr>
          <a:xfrm>
            <a:off x="7269480" y="1600200"/>
            <a:ext cx="4343400" cy="1417320"/>
          </a:xfrm>
          <a:prstGeom prst="roundRect">
            <a:avLst>
              <a:gd name="adj" fmla="val 5806"/>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9" name="Text 7"/>
          <p:cNvSpPr/>
          <p:nvPr/>
        </p:nvSpPr>
        <p:spPr>
          <a:xfrm>
            <a:off x="7360920" y="1709928"/>
            <a:ext cx="4160520" cy="779526"/>
          </a:xfrm>
          <a:prstGeom prst="rect">
            <a:avLst/>
          </a:prstGeom>
          <a:noFill/>
          <a:ln/>
        </p:spPr>
        <p:txBody>
          <a:bodyPr wrap="square" rtlCol="0" anchor="b"/>
          <a:lstStyle/>
          <a:p>
            <a:pPr marL="0" indent="0" algn="ctr">
              <a:buNone/>
            </a:pPr>
            <a:r>
              <a:rPr lang="en-US" sz="3400" b="1" dirty="0">
                <a:solidFill>
                  <a:srgbClr val="F96167"/>
                </a:solidFill>
                <a:latin typeface="Cambria" pitchFamily="34" charset="0"/>
                <a:ea typeface="Cambria" pitchFamily="34" charset="-122"/>
                <a:cs typeface="Cambria" pitchFamily="34" charset="-120"/>
              </a:rPr>
              <a:t>10 – 54 min</a:t>
            </a:r>
            <a:endParaRPr lang="en-US" sz="3400" dirty="0"/>
          </a:p>
        </p:txBody>
      </p:sp>
      <p:sp>
        <p:nvSpPr>
          <p:cNvPr id="10" name="Text 8"/>
          <p:cNvSpPr/>
          <p:nvPr/>
        </p:nvSpPr>
        <p:spPr>
          <a:xfrm>
            <a:off x="7360920" y="2450592"/>
            <a:ext cx="4160520" cy="538582"/>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Delivery time range observed</a:t>
            </a:r>
            <a:endParaRPr lang="en-US" sz="1100" dirty="0"/>
          </a:p>
        </p:txBody>
      </p:sp>
      <p:sp>
        <p:nvSpPr>
          <p:cNvPr id="11" name="Shape 9"/>
          <p:cNvSpPr/>
          <p:nvPr/>
        </p:nvSpPr>
        <p:spPr>
          <a:xfrm>
            <a:off x="7269480" y="3154680"/>
            <a:ext cx="4343400" cy="1417320"/>
          </a:xfrm>
          <a:prstGeom prst="roundRect">
            <a:avLst>
              <a:gd name="adj" fmla="val 5806"/>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12" name="Text 10"/>
          <p:cNvSpPr/>
          <p:nvPr/>
        </p:nvSpPr>
        <p:spPr>
          <a:xfrm>
            <a:off x="7360920" y="3264408"/>
            <a:ext cx="4160520" cy="779526"/>
          </a:xfrm>
          <a:prstGeom prst="rect">
            <a:avLst/>
          </a:prstGeom>
          <a:noFill/>
          <a:ln/>
        </p:spPr>
        <p:txBody>
          <a:bodyPr wrap="square" rtlCol="0" anchor="b"/>
          <a:lstStyle/>
          <a:p>
            <a:pPr marL="0" indent="0" algn="ctr">
              <a:buNone/>
            </a:pPr>
            <a:r>
              <a:rPr lang="en-US" sz="3000" b="1" dirty="0">
                <a:solidFill>
                  <a:srgbClr val="232C5E"/>
                </a:solidFill>
                <a:latin typeface="Cambria" pitchFamily="34" charset="0"/>
                <a:ea typeface="Cambria" pitchFamily="34" charset="-122"/>
                <a:cs typeface="Cambria" pitchFamily="34" charset="-120"/>
              </a:rPr>
              <a:t>1–2 Days</a:t>
            </a:r>
            <a:endParaRPr lang="en-US" sz="3000" dirty="0"/>
          </a:p>
        </p:txBody>
      </p:sp>
      <p:sp>
        <p:nvSpPr>
          <p:cNvPr id="13" name="Text 11"/>
          <p:cNvSpPr/>
          <p:nvPr/>
        </p:nvSpPr>
        <p:spPr>
          <a:xfrm>
            <a:off x="7360920" y="4005072"/>
            <a:ext cx="4160520" cy="538582"/>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To manually diagnose a slow week — before this project</a:t>
            </a:r>
            <a:endParaRPr lang="en-US" sz="1100" dirty="0"/>
          </a:p>
        </p:txBody>
      </p:sp>
      <p:sp>
        <p:nvSpPr>
          <p:cNvPr id="14" name="Shape 12"/>
          <p:cNvSpPr/>
          <p:nvPr/>
        </p:nvSpPr>
        <p:spPr>
          <a:xfrm>
            <a:off x="7269480" y="4709160"/>
            <a:ext cx="4343400" cy="1417320"/>
          </a:xfrm>
          <a:prstGeom prst="roundRect">
            <a:avLst>
              <a:gd name="adj" fmla="val 5806"/>
            </a:avLst>
          </a:prstGeom>
          <a:solidFill>
            <a:srgbClr val="EAF7EF"/>
          </a:solidFill>
          <a:ln w="12700">
            <a:solidFill>
              <a:srgbClr val="CFEEDA"/>
            </a:solidFill>
            <a:prstDash val="solid"/>
          </a:ln>
          <a:effectLst>
            <a:outerShdw blurRad="76200" dist="25400" dir="5400000" algn="bl" rotWithShape="0">
              <a:srgbClr val="000000">
                <a:alpha val="12000"/>
              </a:srgbClr>
            </a:outerShdw>
          </a:effectLst>
        </p:spPr>
      </p:sp>
      <p:sp>
        <p:nvSpPr>
          <p:cNvPr id="15" name="Text 13"/>
          <p:cNvSpPr/>
          <p:nvPr/>
        </p:nvSpPr>
        <p:spPr>
          <a:xfrm>
            <a:off x="7360920" y="4818888"/>
            <a:ext cx="4160520" cy="779526"/>
          </a:xfrm>
          <a:prstGeom prst="rect">
            <a:avLst/>
          </a:prstGeom>
          <a:noFill/>
          <a:ln/>
        </p:spPr>
        <p:txBody>
          <a:bodyPr wrap="square" rtlCol="0" anchor="b"/>
          <a:lstStyle/>
          <a:p>
            <a:pPr marL="0" indent="0" algn="ctr">
              <a:buNone/>
            </a:pPr>
            <a:r>
              <a:rPr lang="en-US" sz="3000" b="1" dirty="0">
                <a:solidFill>
                  <a:srgbClr val="1E8E5A"/>
                </a:solidFill>
                <a:latin typeface="Cambria" pitchFamily="34" charset="0"/>
                <a:ea typeface="Cambria" pitchFamily="34" charset="-122"/>
                <a:cs typeface="Cambria" pitchFamily="34" charset="-120"/>
              </a:rPr>
              <a:t>Minutes</a:t>
            </a:r>
            <a:endParaRPr lang="en-US" sz="3000" dirty="0"/>
          </a:p>
        </p:txBody>
      </p:sp>
      <p:sp>
        <p:nvSpPr>
          <p:cNvPr id="16" name="Text 14"/>
          <p:cNvSpPr/>
          <p:nvPr/>
        </p:nvSpPr>
        <p:spPr>
          <a:xfrm>
            <a:off x="7360920" y="5559552"/>
            <a:ext cx="4160520" cy="538582"/>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To answer the same question — after this project</a:t>
            </a:r>
            <a:endParaRPr lang="en-US" sz="1100" dirty="0"/>
          </a:p>
        </p:txBody>
      </p:sp>
      <p:sp>
        <p:nvSpPr>
          <p:cNvPr id="17" name="Text 1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Business Problem</a:t>
            </a:r>
            <a:endParaRPr lang="en-US" sz="1000" dirty="0"/>
          </a:p>
        </p:txBody>
      </p:sp>
      <p:sp>
        <p:nvSpPr>
          <p:cNvPr id="18" name="Text 16"/>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DATASET &amp; SCOPE</a:t>
            </a:r>
            <a:endParaRPr lang="en-US" sz="1300" dirty="0"/>
          </a:p>
        </p:txBody>
      </p:sp>
      <p:sp>
        <p:nvSpPr>
          <p:cNvPr id="3" name="Text 1"/>
          <p:cNvSpPr/>
          <p:nvPr/>
        </p:nvSpPr>
        <p:spPr>
          <a:xfrm>
            <a:off x="548640" y="768096"/>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A real, messy, 45,000-order dataset nothing synthetic</a:t>
            </a:r>
            <a:endParaRPr lang="en-US" sz="3200" dirty="0"/>
          </a:p>
        </p:txBody>
      </p:sp>
      <p:sp>
        <p:nvSpPr>
          <p:cNvPr id="4" name="Shape 2"/>
          <p:cNvSpPr/>
          <p:nvPr/>
        </p:nvSpPr>
        <p:spPr>
          <a:xfrm>
            <a:off x="548640" y="1600200"/>
            <a:ext cx="5486400" cy="3429000"/>
          </a:xfrm>
          <a:prstGeom prst="roundRect">
            <a:avLst>
              <a:gd name="adj" fmla="val 2133"/>
            </a:avLst>
          </a:prstGeom>
          <a:solidFill>
            <a:srgbClr val="FFFFFF"/>
          </a:solidFill>
          <a:ln w="12700">
            <a:solidFill>
              <a:srgbClr val="E7E8EF"/>
            </a:solidFill>
            <a:prstDash val="solid"/>
          </a:ln>
          <a:effectLst>
            <a:outerShdw blurRad="76200" dist="25400" dir="5400000" algn="bl" rotWithShape="0">
              <a:srgbClr val="000000">
                <a:alpha val="10000"/>
              </a:srgbClr>
            </a:outerShdw>
          </a:effectLst>
        </p:spPr>
      </p:sp>
      <p:sp>
        <p:nvSpPr>
          <p:cNvPr id="5" name="Text 3"/>
          <p:cNvSpPr/>
          <p:nvPr/>
        </p:nvSpPr>
        <p:spPr>
          <a:xfrm>
            <a:off x="822960" y="1783080"/>
            <a:ext cx="4937760" cy="365760"/>
          </a:xfrm>
          <a:prstGeom prst="rect">
            <a:avLst/>
          </a:prstGeom>
          <a:noFill/>
          <a:ln/>
        </p:spPr>
        <p:txBody>
          <a:bodyPr wrap="square" rtlCol="0" anchor="ctr"/>
          <a:lstStyle/>
          <a:p>
            <a:pPr marL="0" indent="0">
              <a:buNone/>
            </a:pPr>
            <a:r>
              <a:rPr lang="en-US" sz="1600" b="1" dirty="0">
                <a:solidFill>
                  <a:srgbClr val="232C5E"/>
                </a:solidFill>
                <a:latin typeface="Cambria" pitchFamily="34" charset="0"/>
                <a:ea typeface="Cambria" pitchFamily="34" charset="-122"/>
                <a:cs typeface="Cambria" pitchFamily="34" charset="-120"/>
              </a:rPr>
              <a:t>What's in the data</a:t>
            </a:r>
            <a:endParaRPr lang="en-US" sz="1600" dirty="0"/>
          </a:p>
        </p:txBody>
      </p:sp>
      <p:sp>
        <p:nvSpPr>
          <p:cNvPr id="6" name="Text 4"/>
          <p:cNvSpPr/>
          <p:nvPr/>
        </p:nvSpPr>
        <p:spPr>
          <a:xfrm>
            <a:off x="822960" y="2194560"/>
            <a:ext cx="4937760" cy="2651760"/>
          </a:xfrm>
          <a:prstGeom prst="rect">
            <a:avLst/>
          </a:prstGeom>
          <a:noFill/>
          <a:ln/>
        </p:spPr>
        <p:txBody>
          <a:bodyPr wrap="square" rtlCol="0" anchor="ctr"/>
          <a:lstStyle/>
          <a:p>
            <a:pPr marL="342900" indent="-342900">
              <a:lnSpc>
                <a:spcPct val="120000"/>
              </a:lnSpc>
              <a:spcAft>
                <a:spcPts val="1000"/>
              </a:spcAft>
              <a:buSzPct val="100000"/>
              <a:buChar char="●"/>
            </a:pPr>
            <a:r>
              <a:rPr lang="en-US" sz="1350" dirty="0">
                <a:solidFill>
                  <a:srgbClr val="23263B"/>
                </a:solidFill>
                <a:latin typeface="Calibri" pitchFamily="34" charset="0"/>
                <a:ea typeface="Calibri" pitchFamily="34" charset="-122"/>
                <a:cs typeface="Calibri" pitchFamily="34" charset="-120"/>
              </a:rPr>
              <a:t>Delivery timestamps &amp; GPS coordinates</a:t>
            </a:r>
            <a:endParaRPr lang="en-US" sz="1350" dirty="0"/>
          </a:p>
          <a:p>
            <a:pPr marL="342900" indent="-342900">
              <a:lnSpc>
                <a:spcPct val="120000"/>
              </a:lnSpc>
              <a:spcAft>
                <a:spcPts val="1000"/>
              </a:spcAft>
              <a:buSzPct val="100000"/>
              <a:buChar char="●"/>
            </a:pPr>
            <a:r>
              <a:rPr lang="en-US" sz="1350" dirty="0">
                <a:solidFill>
                  <a:srgbClr val="23263B"/>
                </a:solidFill>
                <a:latin typeface="Calibri" pitchFamily="34" charset="0"/>
                <a:ea typeface="Calibri" pitchFamily="34" charset="-122"/>
                <a:cs typeface="Calibri" pitchFamily="34" charset="-120"/>
              </a:rPr>
              <a:t>Weather conditions &amp; road traffic density</a:t>
            </a:r>
            <a:endParaRPr lang="en-US" sz="1350" dirty="0"/>
          </a:p>
          <a:p>
            <a:pPr marL="342900" indent="-342900">
              <a:lnSpc>
                <a:spcPct val="120000"/>
              </a:lnSpc>
              <a:spcAft>
                <a:spcPts val="1000"/>
              </a:spcAft>
              <a:buSzPct val="100000"/>
              <a:buChar char="●"/>
            </a:pPr>
            <a:r>
              <a:rPr lang="en-US" sz="1350" dirty="0">
                <a:solidFill>
                  <a:srgbClr val="23263B"/>
                </a:solidFill>
                <a:latin typeface="Calibri" pitchFamily="34" charset="0"/>
                <a:ea typeface="Calibri" pitchFamily="34" charset="-122"/>
                <a:cs typeface="Calibri" pitchFamily="34" charset="-120"/>
              </a:rPr>
              <a:t>Delivery agent ratings &amp; vehicle type</a:t>
            </a:r>
            <a:endParaRPr lang="en-US" sz="1350" dirty="0"/>
          </a:p>
          <a:p>
            <a:pPr marL="342900" indent="-342900">
              <a:lnSpc>
                <a:spcPct val="120000"/>
              </a:lnSpc>
              <a:spcAft>
                <a:spcPts val="1000"/>
              </a:spcAft>
              <a:buSzPct val="100000"/>
              <a:buChar char="●"/>
            </a:pPr>
            <a:r>
              <a:rPr lang="en-US" sz="1350" dirty="0">
                <a:solidFill>
                  <a:srgbClr val="23263B"/>
                </a:solidFill>
                <a:latin typeface="Calibri" pitchFamily="34" charset="0"/>
                <a:ea typeface="Calibri" pitchFamily="34" charset="-122"/>
                <a:cs typeface="Calibri" pitchFamily="34" charset="-120"/>
              </a:rPr>
              <a:t>Festival-day flags</a:t>
            </a:r>
            <a:endParaRPr lang="en-US" sz="1350" dirty="0"/>
          </a:p>
          <a:p>
            <a:pPr marL="342900" indent="-342900">
              <a:lnSpc>
                <a:spcPct val="120000"/>
              </a:lnSpc>
              <a:spcAft>
                <a:spcPts val="1000"/>
              </a:spcAft>
              <a:buSzPct val="100000"/>
              <a:buChar char="●"/>
            </a:pPr>
            <a:r>
              <a:rPr lang="en-US" sz="1350" dirty="0">
                <a:solidFill>
                  <a:srgbClr val="23263B"/>
                </a:solidFill>
                <a:latin typeface="Calibri" pitchFamily="34" charset="0"/>
                <a:ea typeface="Calibri" pitchFamily="34" charset="-122"/>
                <a:cs typeface="Calibri" pitchFamily="34" charset="-120"/>
              </a:rPr>
              <a:t>≈45,000 real orders — Zomato Delivery</a:t>
            </a:r>
            <a:endParaRPr lang="en-US" sz="1350" dirty="0"/>
          </a:p>
          <a:p>
            <a:pPr marL="342900" indent="-342900">
              <a:lnSpc>
                <a:spcPct val="120000"/>
              </a:lnSpc>
              <a:spcAft>
                <a:spcPts val="1000"/>
              </a:spcAft>
              <a:buSzPct val="100000"/>
              <a:buChar char="●"/>
            </a:pPr>
            <a:r>
              <a:rPr lang="en-US" sz="1350" dirty="0">
                <a:solidFill>
                  <a:srgbClr val="23263B"/>
                </a:solidFill>
                <a:latin typeface="Calibri" pitchFamily="34" charset="0"/>
                <a:ea typeface="Calibri" pitchFamily="34" charset="-122"/>
                <a:cs typeface="Calibri" pitchFamily="34" charset="-120"/>
              </a:rPr>
              <a:t>Operations dataset (Kaggle)</a:t>
            </a:r>
            <a:endParaRPr lang="en-US" sz="1350" dirty="0"/>
          </a:p>
        </p:txBody>
      </p:sp>
      <p:sp>
        <p:nvSpPr>
          <p:cNvPr id="7" name="Shape 5"/>
          <p:cNvSpPr/>
          <p:nvPr/>
        </p:nvSpPr>
        <p:spPr>
          <a:xfrm>
            <a:off x="6263640" y="1600200"/>
            <a:ext cx="2606040" cy="3429000"/>
          </a:xfrm>
          <a:prstGeom prst="roundRect">
            <a:avLst>
              <a:gd name="adj" fmla="val 2807"/>
            </a:avLst>
          </a:prstGeom>
          <a:solidFill>
            <a:srgbClr val="EAF7EF"/>
          </a:solidFill>
          <a:ln w="12700">
            <a:solidFill>
              <a:srgbClr val="CFEEDA"/>
            </a:solidFill>
            <a:prstDash val="solid"/>
          </a:ln>
        </p:spPr>
      </p:sp>
      <p:sp>
        <p:nvSpPr>
          <p:cNvPr id="8" name="Text 6"/>
          <p:cNvSpPr/>
          <p:nvPr/>
        </p:nvSpPr>
        <p:spPr>
          <a:xfrm>
            <a:off x="6446520" y="1783080"/>
            <a:ext cx="2286000" cy="320040"/>
          </a:xfrm>
          <a:prstGeom prst="rect">
            <a:avLst/>
          </a:prstGeom>
          <a:noFill/>
          <a:ln/>
        </p:spPr>
        <p:txBody>
          <a:bodyPr wrap="square" rtlCol="0" anchor="ctr"/>
          <a:lstStyle/>
          <a:p>
            <a:pPr marL="0" indent="0">
              <a:buNone/>
            </a:pPr>
            <a:r>
              <a:rPr lang="en-US" sz="1400" b="1" dirty="0">
                <a:solidFill>
                  <a:srgbClr val="1E8E5A"/>
                </a:solidFill>
                <a:latin typeface="Cambria" pitchFamily="34" charset="0"/>
                <a:ea typeface="Cambria" pitchFamily="34" charset="-122"/>
                <a:cs typeface="Cambria" pitchFamily="34" charset="-120"/>
              </a:rPr>
              <a:t>✔ In Scope</a:t>
            </a:r>
            <a:endParaRPr lang="en-US" sz="1400" dirty="0"/>
          </a:p>
        </p:txBody>
      </p:sp>
      <p:sp>
        <p:nvSpPr>
          <p:cNvPr id="9" name="Text 7"/>
          <p:cNvSpPr/>
          <p:nvPr/>
        </p:nvSpPr>
        <p:spPr>
          <a:xfrm>
            <a:off x="6446520" y="2148840"/>
            <a:ext cx="2286000" cy="2743200"/>
          </a:xfrm>
          <a:prstGeom prst="rect">
            <a:avLst/>
          </a:prstGeom>
          <a:noFill/>
          <a:ln/>
        </p:spPr>
        <p:txBody>
          <a:bodyPr wrap="square" rtlCol="0" anchor="ctr"/>
          <a:lstStyle/>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Traffic</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Weather</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Distance</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Vehicle type</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Agent performance</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Order bundling</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Festival effects</a:t>
            </a:r>
            <a:endParaRPr lang="en-US" sz="1200" dirty="0"/>
          </a:p>
        </p:txBody>
      </p:sp>
      <p:sp>
        <p:nvSpPr>
          <p:cNvPr id="10" name="Shape 8"/>
          <p:cNvSpPr/>
          <p:nvPr/>
        </p:nvSpPr>
        <p:spPr>
          <a:xfrm>
            <a:off x="9006840" y="1600200"/>
            <a:ext cx="2606040" cy="3429000"/>
          </a:xfrm>
          <a:prstGeom prst="roundRect">
            <a:avLst>
              <a:gd name="adj" fmla="val 2807"/>
            </a:avLst>
          </a:prstGeom>
          <a:solidFill>
            <a:srgbClr val="FDECEC"/>
          </a:solidFill>
          <a:ln w="12700">
            <a:solidFill>
              <a:srgbClr val="F7CFCF"/>
            </a:solidFill>
            <a:prstDash val="solid"/>
          </a:ln>
        </p:spPr>
      </p:sp>
      <p:sp>
        <p:nvSpPr>
          <p:cNvPr id="11" name="Text 9"/>
          <p:cNvSpPr/>
          <p:nvPr/>
        </p:nvSpPr>
        <p:spPr>
          <a:xfrm>
            <a:off x="9189720" y="1783080"/>
            <a:ext cx="2286000" cy="320040"/>
          </a:xfrm>
          <a:prstGeom prst="rect">
            <a:avLst/>
          </a:prstGeom>
          <a:noFill/>
          <a:ln/>
        </p:spPr>
        <p:txBody>
          <a:bodyPr wrap="square" rtlCol="0" anchor="ctr"/>
          <a:lstStyle/>
          <a:p>
            <a:pPr marL="0" indent="0">
              <a:buNone/>
            </a:pPr>
            <a:r>
              <a:rPr lang="en-US" sz="1400" b="1" dirty="0">
                <a:solidFill>
                  <a:srgbClr val="F96167"/>
                </a:solidFill>
                <a:latin typeface="Cambria" pitchFamily="34" charset="0"/>
                <a:ea typeface="Cambria" pitchFamily="34" charset="-122"/>
                <a:cs typeface="Cambria" pitchFamily="34" charset="-120"/>
              </a:rPr>
              <a:t>✘ Out of Scope</a:t>
            </a:r>
            <a:endParaRPr lang="en-US" sz="1400" dirty="0"/>
          </a:p>
        </p:txBody>
      </p:sp>
      <p:sp>
        <p:nvSpPr>
          <p:cNvPr id="12" name="Text 10"/>
          <p:cNvSpPr/>
          <p:nvPr/>
        </p:nvSpPr>
        <p:spPr>
          <a:xfrm>
            <a:off x="9189720" y="2148840"/>
            <a:ext cx="2286000" cy="2011680"/>
          </a:xfrm>
          <a:prstGeom prst="rect">
            <a:avLst/>
          </a:prstGeom>
          <a:noFill/>
          <a:ln/>
        </p:spPr>
        <p:txBody>
          <a:bodyPr wrap="square" rtlCol="0" anchor="ctr"/>
          <a:lstStyle/>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Pricing</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Restaurant menu data</a:t>
            </a:r>
            <a:endParaRPr lang="en-US" sz="1200" dirty="0"/>
          </a:p>
          <a:p>
            <a:pPr marL="342900" indent="-342900">
              <a:lnSpc>
                <a:spcPct val="125000"/>
              </a:lnSpc>
              <a:spcAft>
                <a:spcPts val="400"/>
              </a:spcAft>
              <a:buSzPct val="100000"/>
              <a:buChar char="●"/>
            </a:pPr>
            <a:r>
              <a:rPr lang="en-US" sz="1200" dirty="0">
                <a:solidFill>
                  <a:srgbClr val="23263B"/>
                </a:solidFill>
                <a:latin typeface="Calibri" pitchFamily="34" charset="0"/>
                <a:ea typeface="Calibri" pitchFamily="34" charset="-122"/>
                <a:cs typeface="Calibri" pitchFamily="34" charset="-120"/>
              </a:rPr>
              <a:t>Customer app experience</a:t>
            </a:r>
            <a:endParaRPr lang="en-US" sz="1200" dirty="0"/>
          </a:p>
        </p:txBody>
      </p:sp>
      <p:sp>
        <p:nvSpPr>
          <p:cNvPr id="13" name="Text 11"/>
          <p:cNvSpPr/>
          <p:nvPr/>
        </p:nvSpPr>
        <p:spPr>
          <a:xfrm>
            <a:off x="9189720" y="4160520"/>
            <a:ext cx="2286000" cy="777240"/>
          </a:xfrm>
          <a:prstGeom prst="rect">
            <a:avLst/>
          </a:prstGeom>
          <a:noFill/>
          <a:ln/>
        </p:spPr>
        <p:txBody>
          <a:bodyPr wrap="square" rtlCol="0" anchor="ctr"/>
          <a:lstStyle/>
          <a:p>
            <a:pPr marL="0" indent="0">
              <a:buNone/>
            </a:pPr>
            <a:r>
              <a:rPr lang="en-US" sz="1000" i="1" dirty="0">
                <a:solidFill>
                  <a:srgbClr val="6B7080"/>
                </a:solidFill>
                <a:latin typeface="Calibri" pitchFamily="34" charset="0"/>
                <a:ea typeface="Calibri" pitchFamily="34" charset="-122"/>
                <a:cs typeface="Calibri" pitchFamily="34" charset="-120"/>
              </a:rPr>
              <a:t>Left out on purpose — pulling them in would dilute a focused delivery-time analysis.</a:t>
            </a:r>
            <a:endParaRPr lang="en-US" sz="1000" dirty="0"/>
          </a:p>
        </p:txBody>
      </p:sp>
      <p:sp>
        <p:nvSpPr>
          <p:cNvPr id="14" name="Text 12"/>
          <p:cNvSpPr/>
          <p:nvPr/>
        </p:nvSpPr>
        <p:spPr>
          <a:xfrm>
            <a:off x="548640" y="5257800"/>
            <a:ext cx="11064240" cy="457200"/>
          </a:xfrm>
          <a:prstGeom prst="rect">
            <a:avLst/>
          </a:prstGeom>
          <a:noFill/>
          <a:ln/>
        </p:spPr>
        <p:txBody>
          <a:bodyPr wrap="square" rtlCol="0" anchor="ctr"/>
          <a:lstStyle/>
          <a:p>
            <a:pPr marL="0" indent="0">
              <a:buNone/>
            </a:pPr>
            <a:r>
              <a:rPr lang="en-US" sz="1150" i="1" dirty="0">
                <a:solidFill>
                  <a:srgbClr val="6B7080"/>
                </a:solidFill>
                <a:latin typeface="Calibri" pitchFamily="34" charset="0"/>
                <a:ea typeface="Calibri" pitchFamily="34" charset="-122"/>
                <a:cs typeface="Calibri" pitchFamily="34" charset="-120"/>
              </a:rPr>
              <a:t>Note: no “promised delivery time” field exists, so SLA breach rate is benchmarked against segment averages instead of a formal target.</a:t>
            </a:r>
            <a:endParaRPr lang="en-US" sz="1150" dirty="0"/>
          </a:p>
        </p:txBody>
      </p:sp>
      <p:sp>
        <p:nvSpPr>
          <p:cNvPr id="15" name="Text 13"/>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Dataset &amp; Scope</a:t>
            </a:r>
            <a:endParaRPr lang="en-US" sz="1000" dirty="0"/>
          </a:p>
        </p:txBody>
      </p:sp>
      <p:sp>
        <p:nvSpPr>
          <p:cNvPr id="16" name="Text 14"/>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8945" y="256312"/>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APPROACH</a:t>
            </a:r>
            <a:endParaRPr lang="en-US" sz="13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A governed, repeatable pipeline not a one-off manual pull</a:t>
            </a:r>
            <a:endParaRPr lang="en-US" sz="3200" dirty="0"/>
          </a:p>
        </p:txBody>
      </p:sp>
      <p:sp>
        <p:nvSpPr>
          <p:cNvPr id="4" name="Shape 2"/>
          <p:cNvSpPr/>
          <p:nvPr/>
        </p:nvSpPr>
        <p:spPr>
          <a:xfrm>
            <a:off x="548640" y="1691640"/>
            <a:ext cx="2081174" cy="2331720"/>
          </a:xfrm>
          <a:prstGeom prst="roundRect">
            <a:avLst>
              <a:gd name="adj" fmla="val 3515"/>
            </a:avLst>
          </a:prstGeom>
          <a:solidFill>
            <a:srgbClr val="F7F7F9"/>
          </a:solidFill>
          <a:ln w="12700">
            <a:solidFill>
              <a:srgbClr val="E7E8EF"/>
            </a:solidFill>
            <a:prstDash val="solid"/>
          </a:ln>
          <a:effectLst>
            <a:outerShdw blurRad="63500" dist="25400" dir="5400000" algn="bl" rotWithShape="0">
              <a:srgbClr val="000000">
                <a:alpha val="10000"/>
              </a:srgbClr>
            </a:outerShdw>
          </a:effectLst>
        </p:spPr>
      </p:sp>
      <p:sp>
        <p:nvSpPr>
          <p:cNvPr id="5" name="Shape 3"/>
          <p:cNvSpPr/>
          <p:nvPr/>
        </p:nvSpPr>
        <p:spPr>
          <a:xfrm>
            <a:off x="1360627" y="1920240"/>
            <a:ext cx="457200" cy="457200"/>
          </a:xfrm>
          <a:prstGeom prst="ellipse">
            <a:avLst/>
          </a:prstGeom>
          <a:solidFill>
            <a:srgbClr val="2F3C7E"/>
          </a:solidFill>
          <a:ln/>
        </p:spPr>
      </p:sp>
      <p:sp>
        <p:nvSpPr>
          <p:cNvPr id="6" name="Text 4"/>
          <p:cNvSpPr/>
          <p:nvPr/>
        </p:nvSpPr>
        <p:spPr>
          <a:xfrm>
            <a:off x="1360627"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658368" y="2560320"/>
            <a:ext cx="1861718" cy="502920"/>
          </a:xfrm>
          <a:prstGeom prst="rect">
            <a:avLst/>
          </a:prstGeom>
          <a:noFill/>
          <a:ln/>
        </p:spPr>
        <p:txBody>
          <a:bodyPr wrap="square" rtlCol="0" anchor="ctr"/>
          <a:lstStyle/>
          <a:p>
            <a:pPr marL="0" indent="0" algn="ctr">
              <a:buNone/>
            </a:pPr>
            <a:r>
              <a:rPr lang="en-US" sz="1350" b="1" dirty="0">
                <a:solidFill>
                  <a:srgbClr val="232C5E"/>
                </a:solidFill>
                <a:latin typeface="Cambria" pitchFamily="34" charset="0"/>
                <a:ea typeface="Cambria" pitchFamily="34" charset="-122"/>
                <a:cs typeface="Cambria" pitchFamily="34" charset="-120"/>
              </a:rPr>
              <a:t>Clean in Excel</a:t>
            </a:r>
            <a:endParaRPr lang="en-US" sz="1350" dirty="0"/>
          </a:p>
        </p:txBody>
      </p:sp>
      <p:sp>
        <p:nvSpPr>
          <p:cNvPr id="8" name="Text 6"/>
          <p:cNvSpPr/>
          <p:nvPr/>
        </p:nvSpPr>
        <p:spPr>
          <a:xfrm>
            <a:off x="658368" y="3063240"/>
            <a:ext cx="1861718" cy="868680"/>
          </a:xfrm>
          <a:prstGeom prst="rect">
            <a:avLst/>
          </a:prstGeom>
          <a:noFill/>
          <a:ln/>
        </p:spPr>
        <p:txBody>
          <a:bodyPr wrap="square" rtlCol="0" anchor="ctr"/>
          <a:lstStyle/>
          <a:p>
            <a:pPr marL="0" indent="0" algn="ctr">
              <a:lnSpc>
                <a:spcPct val="120000"/>
              </a:lnSpc>
              <a:buNone/>
            </a:pPr>
            <a:r>
              <a:rPr lang="en-US" sz="1050" dirty="0">
                <a:solidFill>
                  <a:srgbClr val="6B7080"/>
                </a:solidFill>
                <a:latin typeface="Calibri" pitchFamily="34" charset="0"/>
                <a:ea typeface="Calibri" pitchFamily="34" charset="-122"/>
                <a:cs typeface="Calibri" pitchFamily="34" charset="-120"/>
              </a:rPr>
              <a:t>Power Query: nulls, formats, categories + Haversine Distance_km column</a:t>
            </a:r>
            <a:endParaRPr lang="en-US" sz="1050" dirty="0"/>
          </a:p>
        </p:txBody>
      </p:sp>
      <p:sp>
        <p:nvSpPr>
          <p:cNvPr id="9" name="Text 7"/>
          <p:cNvSpPr/>
          <p:nvPr/>
        </p:nvSpPr>
        <p:spPr>
          <a:xfrm>
            <a:off x="2629814" y="1828800"/>
            <a:ext cx="164592" cy="457200"/>
          </a:xfrm>
          <a:prstGeom prst="rect">
            <a:avLst/>
          </a:prstGeom>
          <a:noFill/>
          <a:ln/>
        </p:spPr>
        <p:txBody>
          <a:bodyPr wrap="square" rtlCol="0" anchor="ctr"/>
          <a:lstStyle/>
          <a:p>
            <a:pPr marL="0" indent="0" algn="ctr">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794406" y="1691640"/>
            <a:ext cx="2081174" cy="2331720"/>
          </a:xfrm>
          <a:prstGeom prst="roundRect">
            <a:avLst>
              <a:gd name="adj" fmla="val 3515"/>
            </a:avLst>
          </a:prstGeom>
          <a:solidFill>
            <a:srgbClr val="F7F7F9"/>
          </a:solidFill>
          <a:ln w="12700">
            <a:solidFill>
              <a:srgbClr val="E7E8EF"/>
            </a:solidFill>
            <a:prstDash val="solid"/>
          </a:ln>
          <a:effectLst>
            <a:outerShdw blurRad="63500" dist="25400" dir="5400000" algn="bl" rotWithShape="0">
              <a:srgbClr val="000000">
                <a:alpha val="10000"/>
              </a:srgbClr>
            </a:outerShdw>
          </a:effectLst>
        </p:spPr>
      </p:sp>
      <p:sp>
        <p:nvSpPr>
          <p:cNvPr id="11" name="Shape 9"/>
          <p:cNvSpPr/>
          <p:nvPr/>
        </p:nvSpPr>
        <p:spPr>
          <a:xfrm>
            <a:off x="3606394" y="1920240"/>
            <a:ext cx="457200" cy="457200"/>
          </a:xfrm>
          <a:prstGeom prst="ellipse">
            <a:avLst/>
          </a:prstGeom>
          <a:solidFill>
            <a:srgbClr val="2F3C7E"/>
          </a:solidFill>
          <a:ln/>
        </p:spPr>
      </p:sp>
      <p:sp>
        <p:nvSpPr>
          <p:cNvPr id="12" name="Text 10"/>
          <p:cNvSpPr/>
          <p:nvPr/>
        </p:nvSpPr>
        <p:spPr>
          <a:xfrm>
            <a:off x="3606394"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904134" y="2560320"/>
            <a:ext cx="1861718" cy="502920"/>
          </a:xfrm>
          <a:prstGeom prst="rect">
            <a:avLst/>
          </a:prstGeom>
          <a:noFill/>
          <a:ln/>
        </p:spPr>
        <p:txBody>
          <a:bodyPr wrap="square" rtlCol="0" anchor="ctr"/>
          <a:lstStyle/>
          <a:p>
            <a:pPr marL="0" indent="0" algn="ctr">
              <a:buNone/>
            </a:pPr>
            <a:r>
              <a:rPr lang="en-US" sz="1350" b="1" dirty="0">
                <a:solidFill>
                  <a:srgbClr val="232C5E"/>
                </a:solidFill>
                <a:latin typeface="Cambria" pitchFamily="34" charset="0"/>
                <a:ea typeface="Cambria" pitchFamily="34" charset="-122"/>
                <a:cs typeface="Cambria" pitchFamily="34" charset="-120"/>
              </a:rPr>
              <a:t>Version on GitHub</a:t>
            </a:r>
            <a:endParaRPr lang="en-US" sz="1350" dirty="0"/>
          </a:p>
        </p:txBody>
      </p:sp>
      <p:sp>
        <p:nvSpPr>
          <p:cNvPr id="14" name="Text 12"/>
          <p:cNvSpPr/>
          <p:nvPr/>
        </p:nvSpPr>
        <p:spPr>
          <a:xfrm>
            <a:off x="2904134" y="3063240"/>
            <a:ext cx="1861718" cy="868680"/>
          </a:xfrm>
          <a:prstGeom prst="rect">
            <a:avLst/>
          </a:prstGeom>
          <a:noFill/>
          <a:ln/>
        </p:spPr>
        <p:txBody>
          <a:bodyPr wrap="square" rtlCol="0" anchor="ctr"/>
          <a:lstStyle/>
          <a:p>
            <a:pPr marL="0" indent="0" algn="ctr">
              <a:lnSpc>
                <a:spcPct val="120000"/>
              </a:lnSpc>
              <a:buNone/>
            </a:pPr>
            <a:r>
              <a:rPr lang="en-US" sz="1050" dirty="0">
                <a:solidFill>
                  <a:srgbClr val="6B7080"/>
                </a:solidFill>
                <a:latin typeface="Calibri" pitchFamily="34" charset="0"/>
                <a:ea typeface="Calibri" pitchFamily="34" charset="-122"/>
                <a:cs typeface="Calibri" pitchFamily="34" charset="-120"/>
              </a:rPr>
              <a:t>Cleaned data pushed to a refreshable source, not a static upload</a:t>
            </a:r>
            <a:endParaRPr lang="en-US" sz="1050" dirty="0"/>
          </a:p>
        </p:txBody>
      </p:sp>
      <p:sp>
        <p:nvSpPr>
          <p:cNvPr id="15" name="Text 13"/>
          <p:cNvSpPr/>
          <p:nvPr/>
        </p:nvSpPr>
        <p:spPr>
          <a:xfrm>
            <a:off x="4875581" y="1828800"/>
            <a:ext cx="164592" cy="457200"/>
          </a:xfrm>
          <a:prstGeom prst="rect">
            <a:avLst/>
          </a:prstGeom>
          <a:noFill/>
          <a:ln/>
        </p:spPr>
        <p:txBody>
          <a:bodyPr wrap="square" rtlCol="0" anchor="ctr"/>
          <a:lstStyle/>
          <a:p>
            <a:pPr marL="0" indent="0" algn="ctr">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040173" y="1691640"/>
            <a:ext cx="2081174" cy="2331720"/>
          </a:xfrm>
          <a:prstGeom prst="roundRect">
            <a:avLst>
              <a:gd name="adj" fmla="val 3515"/>
            </a:avLst>
          </a:prstGeom>
          <a:solidFill>
            <a:srgbClr val="F7F7F9"/>
          </a:solidFill>
          <a:ln w="12700">
            <a:solidFill>
              <a:srgbClr val="E7E8EF"/>
            </a:solidFill>
            <a:prstDash val="solid"/>
          </a:ln>
          <a:effectLst>
            <a:outerShdw blurRad="63500" dist="25400" dir="5400000" algn="bl" rotWithShape="0">
              <a:srgbClr val="000000">
                <a:alpha val="10000"/>
              </a:srgbClr>
            </a:outerShdw>
          </a:effectLst>
        </p:spPr>
      </p:sp>
      <p:sp>
        <p:nvSpPr>
          <p:cNvPr id="17" name="Shape 15"/>
          <p:cNvSpPr/>
          <p:nvPr/>
        </p:nvSpPr>
        <p:spPr>
          <a:xfrm>
            <a:off x="5852160" y="1920240"/>
            <a:ext cx="457200" cy="457200"/>
          </a:xfrm>
          <a:prstGeom prst="ellipse">
            <a:avLst/>
          </a:prstGeom>
          <a:solidFill>
            <a:srgbClr val="2F3C7E"/>
          </a:solidFill>
          <a:ln/>
        </p:spPr>
      </p:sp>
      <p:sp>
        <p:nvSpPr>
          <p:cNvPr id="18" name="Text 16"/>
          <p:cNvSpPr/>
          <p:nvPr/>
        </p:nvSpPr>
        <p:spPr>
          <a:xfrm>
            <a:off x="5852160"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5149901" y="2560320"/>
            <a:ext cx="1861718" cy="502920"/>
          </a:xfrm>
          <a:prstGeom prst="rect">
            <a:avLst/>
          </a:prstGeom>
          <a:noFill/>
          <a:ln/>
        </p:spPr>
        <p:txBody>
          <a:bodyPr wrap="square" rtlCol="0" anchor="ctr"/>
          <a:lstStyle/>
          <a:p>
            <a:pPr marL="0" indent="0" algn="ctr">
              <a:buNone/>
            </a:pPr>
            <a:r>
              <a:rPr lang="en-US" sz="1350" b="1" dirty="0">
                <a:solidFill>
                  <a:srgbClr val="232C5E"/>
                </a:solidFill>
                <a:latin typeface="Cambria" pitchFamily="34" charset="0"/>
                <a:ea typeface="Cambria" pitchFamily="34" charset="-122"/>
                <a:cs typeface="Cambria" pitchFamily="34" charset="-120"/>
              </a:rPr>
              <a:t>Load to Fabric</a:t>
            </a:r>
            <a:endParaRPr lang="en-US" sz="1350" dirty="0"/>
          </a:p>
        </p:txBody>
      </p:sp>
      <p:sp>
        <p:nvSpPr>
          <p:cNvPr id="20" name="Text 18"/>
          <p:cNvSpPr/>
          <p:nvPr/>
        </p:nvSpPr>
        <p:spPr>
          <a:xfrm>
            <a:off x="5149901" y="3063240"/>
            <a:ext cx="1861718" cy="868680"/>
          </a:xfrm>
          <a:prstGeom prst="rect">
            <a:avLst/>
          </a:prstGeom>
          <a:noFill/>
          <a:ln/>
        </p:spPr>
        <p:txBody>
          <a:bodyPr wrap="square" rtlCol="0" anchor="ctr"/>
          <a:lstStyle/>
          <a:p>
            <a:pPr marL="0" indent="0" algn="ctr">
              <a:lnSpc>
                <a:spcPct val="120000"/>
              </a:lnSpc>
              <a:buNone/>
            </a:pPr>
            <a:r>
              <a:rPr lang="en-US" sz="1050" dirty="0">
                <a:solidFill>
                  <a:srgbClr val="6B7080"/>
                </a:solidFill>
                <a:latin typeface="Calibri" pitchFamily="34" charset="0"/>
                <a:ea typeface="Calibri" pitchFamily="34" charset="-122"/>
                <a:cs typeface="Calibri" pitchFamily="34" charset="-120"/>
              </a:rPr>
              <a:t>Dataflow Gen2 pulls data into a governed Lakehouse</a:t>
            </a:r>
            <a:endParaRPr lang="en-US" sz="1050" dirty="0"/>
          </a:p>
        </p:txBody>
      </p:sp>
      <p:sp>
        <p:nvSpPr>
          <p:cNvPr id="21" name="Text 19"/>
          <p:cNvSpPr/>
          <p:nvPr/>
        </p:nvSpPr>
        <p:spPr>
          <a:xfrm>
            <a:off x="7121347" y="1828800"/>
            <a:ext cx="164592" cy="457200"/>
          </a:xfrm>
          <a:prstGeom prst="rect">
            <a:avLst/>
          </a:prstGeom>
          <a:noFill/>
          <a:ln/>
        </p:spPr>
        <p:txBody>
          <a:bodyPr wrap="square" rtlCol="0" anchor="ctr"/>
          <a:lstStyle/>
          <a:p>
            <a:pPr marL="0" indent="0" algn="ctr">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7285939" y="1691640"/>
            <a:ext cx="2081174" cy="2331720"/>
          </a:xfrm>
          <a:prstGeom prst="roundRect">
            <a:avLst>
              <a:gd name="adj" fmla="val 3515"/>
            </a:avLst>
          </a:prstGeom>
          <a:solidFill>
            <a:srgbClr val="F7F7F9"/>
          </a:solidFill>
          <a:ln w="12700">
            <a:solidFill>
              <a:srgbClr val="E7E8EF"/>
            </a:solidFill>
            <a:prstDash val="solid"/>
          </a:ln>
          <a:effectLst>
            <a:outerShdw blurRad="63500" dist="25400" dir="5400000" algn="bl" rotWithShape="0">
              <a:srgbClr val="000000">
                <a:alpha val="10000"/>
              </a:srgbClr>
            </a:outerShdw>
          </a:effectLst>
        </p:spPr>
      </p:sp>
      <p:sp>
        <p:nvSpPr>
          <p:cNvPr id="23" name="Shape 21"/>
          <p:cNvSpPr/>
          <p:nvPr/>
        </p:nvSpPr>
        <p:spPr>
          <a:xfrm>
            <a:off x="8097926" y="1920240"/>
            <a:ext cx="457200" cy="457200"/>
          </a:xfrm>
          <a:prstGeom prst="ellipse">
            <a:avLst/>
          </a:prstGeom>
          <a:solidFill>
            <a:srgbClr val="2F3C7E"/>
          </a:solidFill>
          <a:ln/>
        </p:spPr>
      </p:sp>
      <p:sp>
        <p:nvSpPr>
          <p:cNvPr id="24" name="Text 22"/>
          <p:cNvSpPr/>
          <p:nvPr/>
        </p:nvSpPr>
        <p:spPr>
          <a:xfrm>
            <a:off x="8097926"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7395667" y="2560320"/>
            <a:ext cx="1861718" cy="502920"/>
          </a:xfrm>
          <a:prstGeom prst="rect">
            <a:avLst/>
          </a:prstGeom>
          <a:noFill/>
          <a:ln/>
        </p:spPr>
        <p:txBody>
          <a:bodyPr wrap="square" rtlCol="0" anchor="ctr"/>
          <a:lstStyle/>
          <a:p>
            <a:pPr marL="0" indent="0" algn="ctr">
              <a:buNone/>
            </a:pPr>
            <a:r>
              <a:rPr lang="en-US" sz="1350" b="1" dirty="0">
                <a:solidFill>
                  <a:srgbClr val="232C5E"/>
                </a:solidFill>
                <a:latin typeface="Cambria" pitchFamily="34" charset="0"/>
                <a:ea typeface="Cambria" pitchFamily="34" charset="-122"/>
                <a:cs typeface="Cambria" pitchFamily="34" charset="-120"/>
              </a:rPr>
              <a:t>Query in SQL</a:t>
            </a:r>
            <a:endParaRPr lang="en-US" sz="1350" dirty="0"/>
          </a:p>
        </p:txBody>
      </p:sp>
      <p:sp>
        <p:nvSpPr>
          <p:cNvPr id="26" name="Text 24"/>
          <p:cNvSpPr/>
          <p:nvPr/>
        </p:nvSpPr>
        <p:spPr>
          <a:xfrm>
            <a:off x="7395667" y="3063240"/>
            <a:ext cx="1861718" cy="868680"/>
          </a:xfrm>
          <a:prstGeom prst="rect">
            <a:avLst/>
          </a:prstGeom>
          <a:noFill/>
          <a:ln/>
        </p:spPr>
        <p:txBody>
          <a:bodyPr wrap="square" rtlCol="0" anchor="ctr"/>
          <a:lstStyle/>
          <a:p>
            <a:pPr marL="0" indent="0" algn="ctr">
              <a:lnSpc>
                <a:spcPct val="120000"/>
              </a:lnSpc>
              <a:buNone/>
            </a:pPr>
            <a:r>
              <a:rPr lang="en-US" sz="1050" dirty="0">
                <a:solidFill>
                  <a:srgbClr val="6B7080"/>
                </a:solidFill>
                <a:latin typeface="Calibri" pitchFamily="34" charset="0"/>
                <a:ea typeface="Calibri" pitchFamily="34" charset="-122"/>
                <a:cs typeface="Calibri" pitchFamily="34" charset="-120"/>
              </a:rPr>
              <a:t>10 business questions answered via the SQL Analytics Endpoint</a:t>
            </a:r>
            <a:endParaRPr lang="en-US" sz="1050" dirty="0"/>
          </a:p>
        </p:txBody>
      </p:sp>
      <p:sp>
        <p:nvSpPr>
          <p:cNvPr id="27" name="Text 25"/>
          <p:cNvSpPr/>
          <p:nvPr/>
        </p:nvSpPr>
        <p:spPr>
          <a:xfrm>
            <a:off x="9367114" y="1828800"/>
            <a:ext cx="164592" cy="457200"/>
          </a:xfrm>
          <a:prstGeom prst="rect">
            <a:avLst/>
          </a:prstGeom>
          <a:noFill/>
          <a:ln/>
        </p:spPr>
        <p:txBody>
          <a:bodyPr wrap="square" rtlCol="0" anchor="ctr"/>
          <a:lstStyle/>
          <a:p>
            <a:pPr marL="0" indent="0" algn="ctr">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531706" y="1691640"/>
            <a:ext cx="2081174" cy="2331720"/>
          </a:xfrm>
          <a:prstGeom prst="roundRect">
            <a:avLst>
              <a:gd name="adj" fmla="val 3515"/>
            </a:avLst>
          </a:prstGeom>
          <a:solidFill>
            <a:srgbClr val="F7F7F9"/>
          </a:solidFill>
          <a:ln w="12700">
            <a:solidFill>
              <a:srgbClr val="E7E8EF"/>
            </a:solidFill>
            <a:prstDash val="solid"/>
          </a:ln>
          <a:effectLst>
            <a:outerShdw blurRad="63500" dist="25400" dir="5400000" algn="bl" rotWithShape="0">
              <a:srgbClr val="000000">
                <a:alpha val="10000"/>
              </a:srgbClr>
            </a:outerShdw>
          </a:effectLst>
        </p:spPr>
      </p:sp>
      <p:sp>
        <p:nvSpPr>
          <p:cNvPr id="29" name="Shape 27"/>
          <p:cNvSpPr/>
          <p:nvPr/>
        </p:nvSpPr>
        <p:spPr>
          <a:xfrm>
            <a:off x="10343693" y="1920240"/>
            <a:ext cx="457200" cy="457200"/>
          </a:xfrm>
          <a:prstGeom prst="ellipse">
            <a:avLst/>
          </a:prstGeom>
          <a:solidFill>
            <a:srgbClr val="F96167"/>
          </a:solidFill>
          <a:ln/>
        </p:spPr>
      </p:sp>
      <p:sp>
        <p:nvSpPr>
          <p:cNvPr id="30" name="Text 28"/>
          <p:cNvSpPr/>
          <p:nvPr/>
        </p:nvSpPr>
        <p:spPr>
          <a:xfrm>
            <a:off x="10343693"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9641434" y="2560320"/>
            <a:ext cx="1861718" cy="502920"/>
          </a:xfrm>
          <a:prstGeom prst="rect">
            <a:avLst/>
          </a:prstGeom>
          <a:noFill/>
          <a:ln/>
        </p:spPr>
        <p:txBody>
          <a:bodyPr wrap="square" rtlCol="0" anchor="ctr"/>
          <a:lstStyle/>
          <a:p>
            <a:pPr marL="0" indent="0" algn="ctr">
              <a:buNone/>
            </a:pPr>
            <a:r>
              <a:rPr lang="en-US" sz="1350" b="1" dirty="0">
                <a:solidFill>
                  <a:srgbClr val="232C5E"/>
                </a:solidFill>
                <a:latin typeface="Cambria" pitchFamily="34" charset="0"/>
                <a:ea typeface="Cambria" pitchFamily="34" charset="-122"/>
                <a:cs typeface="Cambria" pitchFamily="34" charset="-120"/>
              </a:rPr>
              <a:t>Visualize in Power BI</a:t>
            </a:r>
            <a:endParaRPr lang="en-US" sz="1350" dirty="0"/>
          </a:p>
        </p:txBody>
      </p:sp>
      <p:sp>
        <p:nvSpPr>
          <p:cNvPr id="32" name="Text 30"/>
          <p:cNvSpPr/>
          <p:nvPr/>
        </p:nvSpPr>
        <p:spPr>
          <a:xfrm>
            <a:off x="9641434" y="3063240"/>
            <a:ext cx="1861718" cy="868680"/>
          </a:xfrm>
          <a:prstGeom prst="rect">
            <a:avLst/>
          </a:prstGeom>
          <a:noFill/>
          <a:ln/>
        </p:spPr>
        <p:txBody>
          <a:bodyPr wrap="square" rtlCol="0" anchor="ctr"/>
          <a:lstStyle/>
          <a:p>
            <a:pPr marL="0" indent="0" algn="ctr">
              <a:lnSpc>
                <a:spcPct val="120000"/>
              </a:lnSpc>
              <a:buNone/>
            </a:pPr>
            <a:r>
              <a:rPr lang="en-US" sz="1050" dirty="0">
                <a:solidFill>
                  <a:srgbClr val="6B7080"/>
                </a:solidFill>
                <a:latin typeface="Calibri" pitchFamily="34" charset="0"/>
                <a:ea typeface="Calibri" pitchFamily="34" charset="-122"/>
                <a:cs typeface="Calibri" pitchFamily="34" charset="-120"/>
              </a:rPr>
              <a:t>3-page live dashboard on the same semantic model</a:t>
            </a:r>
            <a:endParaRPr lang="en-US" sz="1050" dirty="0"/>
          </a:p>
        </p:txBody>
      </p:sp>
      <p:pic>
        <p:nvPicPr>
          <p:cNvPr id="33" name="Image 0" descr="/mnt/user-data/uploads/Fabric.png"/>
          <p:cNvPicPr>
            <a:picLocks noChangeAspect="1"/>
          </p:cNvPicPr>
          <p:nvPr/>
        </p:nvPicPr>
        <p:blipFill>
          <a:blip r:embed="rId3"/>
          <a:srcRect t="13971" b="13971"/>
          <a:stretch/>
        </p:blipFill>
        <p:spPr>
          <a:xfrm>
            <a:off x="548640" y="4343400"/>
            <a:ext cx="5760720" cy="1965960"/>
          </a:xfrm>
          <a:prstGeom prst="rect">
            <a:avLst/>
          </a:prstGeom>
        </p:spPr>
      </p:pic>
      <p:sp>
        <p:nvSpPr>
          <p:cNvPr id="34" name="Shape 31"/>
          <p:cNvSpPr/>
          <p:nvPr/>
        </p:nvSpPr>
        <p:spPr>
          <a:xfrm>
            <a:off x="548640" y="4343400"/>
            <a:ext cx="5760720" cy="1965960"/>
          </a:xfrm>
          <a:prstGeom prst="rect">
            <a:avLst/>
          </a:prstGeom>
          <a:ln w="12700">
            <a:solidFill>
              <a:srgbClr val="E7E8EF"/>
            </a:solidFill>
            <a:prstDash val="solid"/>
          </a:ln>
        </p:spPr>
      </p:sp>
      <p:sp>
        <p:nvSpPr>
          <p:cNvPr id="35" name="Text 32"/>
          <p:cNvSpPr/>
          <p:nvPr/>
        </p:nvSpPr>
        <p:spPr>
          <a:xfrm>
            <a:off x="6492240" y="4480560"/>
            <a:ext cx="5120640" cy="1737360"/>
          </a:xfrm>
          <a:prstGeom prst="rect">
            <a:avLst/>
          </a:prstGeom>
          <a:noFill/>
          <a:ln/>
        </p:spPr>
        <p:txBody>
          <a:bodyPr wrap="square" rtlCol="0" anchor="ctr"/>
          <a:lstStyle/>
          <a:p>
            <a:pPr marL="0" indent="0">
              <a:lnSpc>
                <a:spcPct val="130000"/>
              </a:lnSpc>
              <a:buNone/>
            </a:pPr>
            <a:r>
              <a:rPr lang="en-US" sz="1250" dirty="0">
                <a:solidFill>
                  <a:srgbClr val="23263B"/>
                </a:solidFill>
                <a:latin typeface="Calibri" pitchFamily="34" charset="0"/>
                <a:ea typeface="Calibri" pitchFamily="34" charset="-122"/>
                <a:cs typeface="Calibri" pitchFamily="34" charset="-120"/>
              </a:rPr>
              <a:t>Fabric workspace: Lakehouse, Dataflow Gen2 &amp; SQL Analytics Endpoint under one governed roof</a:t>
            </a:r>
            <a:endParaRPr lang="en-US" sz="1250" dirty="0"/>
          </a:p>
        </p:txBody>
      </p:sp>
      <p:sp>
        <p:nvSpPr>
          <p:cNvPr id="36" name="Text 33"/>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Approach</a:t>
            </a:r>
            <a:endParaRPr lang="en-US" sz="1000" dirty="0"/>
          </a:p>
        </p:txBody>
      </p:sp>
      <p:sp>
        <p:nvSpPr>
          <p:cNvPr id="37" name="Text 34"/>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TOOLS &amp; TECHNOLOGIES</a:t>
            </a:r>
            <a:endParaRPr lang="en-US" sz="13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Each tool earns its place in the pipeline</a:t>
            </a:r>
            <a:endParaRPr lang="en-US" sz="3200" dirty="0"/>
          </a:p>
        </p:txBody>
      </p:sp>
      <p:sp>
        <p:nvSpPr>
          <p:cNvPr id="4" name="Shape 2"/>
          <p:cNvSpPr/>
          <p:nvPr/>
        </p:nvSpPr>
        <p:spPr>
          <a:xfrm>
            <a:off x="548640" y="1691640"/>
            <a:ext cx="5349240" cy="2011680"/>
          </a:xfrm>
          <a:prstGeom prst="roundRect">
            <a:avLst>
              <a:gd name="adj" fmla="val 3636"/>
            </a:avLst>
          </a:prstGeom>
          <a:solidFill>
            <a:srgbClr val="FFFFFF"/>
          </a:solidFill>
          <a:ln w="12700">
            <a:solidFill>
              <a:srgbClr val="E7E8EF"/>
            </a:solidFill>
            <a:prstDash val="solid"/>
          </a:ln>
          <a:effectLst>
            <a:outerShdw blurRad="63500" dist="25400" dir="5400000" algn="bl" rotWithShape="0">
              <a:srgbClr val="000000">
                <a:alpha val="10000"/>
              </a:srgbClr>
            </a:outerShdw>
          </a:effectLst>
        </p:spPr>
      </p:sp>
      <p:sp>
        <p:nvSpPr>
          <p:cNvPr id="5" name="Shape 3"/>
          <p:cNvSpPr/>
          <p:nvPr/>
        </p:nvSpPr>
        <p:spPr>
          <a:xfrm>
            <a:off x="777240" y="1920240"/>
            <a:ext cx="502920" cy="502920"/>
          </a:xfrm>
          <a:prstGeom prst="roundRect">
            <a:avLst>
              <a:gd name="adj" fmla="val 50909"/>
            </a:avLst>
          </a:prstGeom>
          <a:solidFill>
            <a:srgbClr val="F96167"/>
          </a:solidFill>
          <a:ln/>
        </p:spPr>
      </p:sp>
      <p:sp>
        <p:nvSpPr>
          <p:cNvPr id="6" name="Text 4"/>
          <p:cNvSpPr/>
          <p:nvPr/>
        </p:nvSpPr>
        <p:spPr>
          <a:xfrm>
            <a:off x="777240"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1892808"/>
            <a:ext cx="4251960" cy="548640"/>
          </a:xfrm>
          <a:prstGeom prst="rect">
            <a:avLst/>
          </a:prstGeom>
          <a:noFill/>
          <a:ln/>
        </p:spPr>
        <p:txBody>
          <a:bodyPr wrap="square" rtlCol="0" anchor="ctr"/>
          <a:lstStyle/>
          <a:p>
            <a:pPr marL="0" indent="0">
              <a:buNone/>
            </a:pPr>
            <a:r>
              <a:rPr lang="en-US" sz="1450" b="1" dirty="0">
                <a:solidFill>
                  <a:srgbClr val="232C5E"/>
                </a:solidFill>
                <a:latin typeface="Cambria" pitchFamily="34" charset="0"/>
                <a:ea typeface="Cambria" pitchFamily="34" charset="-122"/>
                <a:cs typeface="Cambria" pitchFamily="34" charset="-120"/>
              </a:rPr>
              <a:t>Excel · Power Query</a:t>
            </a:r>
            <a:endParaRPr lang="en-US" sz="1450" dirty="0"/>
          </a:p>
        </p:txBody>
      </p:sp>
      <p:sp>
        <p:nvSpPr>
          <p:cNvPr id="8" name="Text 6"/>
          <p:cNvSpPr/>
          <p:nvPr/>
        </p:nvSpPr>
        <p:spPr>
          <a:xfrm>
            <a:off x="777240" y="2560320"/>
            <a:ext cx="4892040" cy="1005840"/>
          </a:xfrm>
          <a:prstGeom prst="rect">
            <a:avLst/>
          </a:prstGeom>
          <a:noFill/>
          <a:ln/>
        </p:spPr>
        <p:txBody>
          <a:bodyPr wrap="square" rtlCol="0" anchor="ctr"/>
          <a:lstStyle/>
          <a:p>
            <a:pPr marL="0" indent="0">
              <a:lnSpc>
                <a:spcPct val="125000"/>
              </a:lnSpc>
              <a:buNone/>
            </a:pPr>
            <a:r>
              <a:rPr lang="en-US" sz="1150" dirty="0">
                <a:solidFill>
                  <a:srgbClr val="23263B"/>
                </a:solidFill>
                <a:latin typeface="Calibri" pitchFamily="34" charset="0"/>
                <a:ea typeface="Calibri" pitchFamily="34" charset="-122"/>
                <a:cs typeface="Calibri" pitchFamily="34" charset="-120"/>
              </a:rPr>
              <a:t>First cleaning pass: nulls, formats, categorical standardization, and a Haversine-based Distance_km column.</a:t>
            </a:r>
            <a:endParaRPr lang="en-US" sz="1150" dirty="0"/>
          </a:p>
        </p:txBody>
      </p:sp>
      <p:sp>
        <p:nvSpPr>
          <p:cNvPr id="9" name="Shape 7"/>
          <p:cNvSpPr/>
          <p:nvPr/>
        </p:nvSpPr>
        <p:spPr>
          <a:xfrm>
            <a:off x="6263640" y="1691640"/>
            <a:ext cx="5349240" cy="2011680"/>
          </a:xfrm>
          <a:prstGeom prst="roundRect">
            <a:avLst>
              <a:gd name="adj" fmla="val 3636"/>
            </a:avLst>
          </a:prstGeom>
          <a:solidFill>
            <a:srgbClr val="FFFFFF"/>
          </a:solidFill>
          <a:ln w="12700">
            <a:solidFill>
              <a:srgbClr val="E7E8EF"/>
            </a:solidFill>
            <a:prstDash val="solid"/>
          </a:ln>
          <a:effectLst>
            <a:outerShdw blurRad="63500" dist="25400" dir="5400000" algn="bl" rotWithShape="0">
              <a:srgbClr val="000000">
                <a:alpha val="10000"/>
              </a:srgbClr>
            </a:outerShdw>
          </a:effectLst>
        </p:spPr>
      </p:sp>
      <p:sp>
        <p:nvSpPr>
          <p:cNvPr id="10" name="Shape 8"/>
          <p:cNvSpPr/>
          <p:nvPr/>
        </p:nvSpPr>
        <p:spPr>
          <a:xfrm>
            <a:off x="6492240" y="1920240"/>
            <a:ext cx="502920" cy="502920"/>
          </a:xfrm>
          <a:prstGeom prst="roundRect">
            <a:avLst>
              <a:gd name="adj" fmla="val 50909"/>
            </a:avLst>
          </a:prstGeom>
          <a:solidFill>
            <a:srgbClr val="2F3C7E"/>
          </a:solidFill>
          <a:ln/>
        </p:spPr>
      </p:sp>
      <p:sp>
        <p:nvSpPr>
          <p:cNvPr id="11" name="Text 9"/>
          <p:cNvSpPr/>
          <p:nvPr/>
        </p:nvSpPr>
        <p:spPr>
          <a:xfrm>
            <a:off x="6492240"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132320" y="1892808"/>
            <a:ext cx="4251960" cy="548640"/>
          </a:xfrm>
          <a:prstGeom prst="rect">
            <a:avLst/>
          </a:prstGeom>
          <a:noFill/>
          <a:ln/>
        </p:spPr>
        <p:txBody>
          <a:bodyPr wrap="square" rtlCol="0" anchor="ctr"/>
          <a:lstStyle/>
          <a:p>
            <a:pPr marL="0" indent="0">
              <a:buNone/>
            </a:pPr>
            <a:r>
              <a:rPr lang="en-US" sz="1450" b="1" dirty="0">
                <a:solidFill>
                  <a:srgbClr val="232C5E"/>
                </a:solidFill>
                <a:latin typeface="Cambria" pitchFamily="34" charset="0"/>
                <a:ea typeface="Cambria" pitchFamily="34" charset="-122"/>
                <a:cs typeface="Cambria" pitchFamily="34" charset="-120"/>
              </a:rPr>
              <a:t>SQL · Fabric Analytics Endpoint</a:t>
            </a:r>
            <a:endParaRPr lang="en-US" sz="1450" dirty="0"/>
          </a:p>
        </p:txBody>
      </p:sp>
      <p:sp>
        <p:nvSpPr>
          <p:cNvPr id="13" name="Text 11"/>
          <p:cNvSpPr/>
          <p:nvPr/>
        </p:nvSpPr>
        <p:spPr>
          <a:xfrm>
            <a:off x="6492240" y="2560320"/>
            <a:ext cx="4892040" cy="1005840"/>
          </a:xfrm>
          <a:prstGeom prst="rect">
            <a:avLst/>
          </a:prstGeom>
          <a:noFill/>
          <a:ln/>
        </p:spPr>
        <p:txBody>
          <a:bodyPr wrap="square" rtlCol="0" anchor="ctr"/>
          <a:lstStyle/>
          <a:p>
            <a:pPr marL="0" indent="0">
              <a:lnSpc>
                <a:spcPct val="125000"/>
              </a:lnSpc>
              <a:buNone/>
            </a:pPr>
            <a:r>
              <a:rPr lang="en-US" sz="1150" dirty="0">
                <a:solidFill>
                  <a:srgbClr val="23263B"/>
                </a:solidFill>
                <a:latin typeface="Calibri" pitchFamily="34" charset="0"/>
                <a:ea typeface="Calibri" pitchFamily="34" charset="-122"/>
                <a:cs typeface="Calibri" pitchFamily="34" charset="-120"/>
              </a:rPr>
              <a:t>Answered all 10 business questions using CTEs, CASE-based bucketing, and window functions (PERCENTILE_CONT, rolling averages).</a:t>
            </a:r>
            <a:endParaRPr lang="en-US" sz="1150" dirty="0"/>
          </a:p>
        </p:txBody>
      </p:sp>
      <p:sp>
        <p:nvSpPr>
          <p:cNvPr id="14" name="Shape 12"/>
          <p:cNvSpPr/>
          <p:nvPr/>
        </p:nvSpPr>
        <p:spPr>
          <a:xfrm>
            <a:off x="548640" y="3977640"/>
            <a:ext cx="5349240" cy="2011680"/>
          </a:xfrm>
          <a:prstGeom prst="roundRect">
            <a:avLst>
              <a:gd name="adj" fmla="val 3636"/>
            </a:avLst>
          </a:prstGeom>
          <a:solidFill>
            <a:srgbClr val="FFFFFF"/>
          </a:solidFill>
          <a:ln w="12700">
            <a:solidFill>
              <a:srgbClr val="E7E8EF"/>
            </a:solidFill>
            <a:prstDash val="solid"/>
          </a:ln>
          <a:effectLst>
            <a:outerShdw blurRad="63500" dist="25400" dir="5400000" algn="bl" rotWithShape="0">
              <a:srgbClr val="000000">
                <a:alpha val="10000"/>
              </a:srgbClr>
            </a:outerShdw>
          </a:effectLst>
        </p:spPr>
      </p:sp>
      <p:sp>
        <p:nvSpPr>
          <p:cNvPr id="15" name="Shape 13"/>
          <p:cNvSpPr/>
          <p:nvPr/>
        </p:nvSpPr>
        <p:spPr>
          <a:xfrm>
            <a:off x="777240" y="4206240"/>
            <a:ext cx="502920" cy="502920"/>
          </a:xfrm>
          <a:prstGeom prst="roundRect">
            <a:avLst>
              <a:gd name="adj" fmla="val 50909"/>
            </a:avLst>
          </a:prstGeom>
          <a:solidFill>
            <a:srgbClr val="F96167"/>
          </a:solidFill>
          <a:ln/>
        </p:spPr>
      </p:sp>
      <p:sp>
        <p:nvSpPr>
          <p:cNvPr id="16" name="Text 14"/>
          <p:cNvSpPr/>
          <p:nvPr/>
        </p:nvSpPr>
        <p:spPr>
          <a:xfrm>
            <a:off x="777240" y="4206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417320" y="4178808"/>
            <a:ext cx="4251960" cy="548640"/>
          </a:xfrm>
          <a:prstGeom prst="rect">
            <a:avLst/>
          </a:prstGeom>
          <a:noFill/>
          <a:ln/>
        </p:spPr>
        <p:txBody>
          <a:bodyPr wrap="square" rtlCol="0" anchor="ctr"/>
          <a:lstStyle/>
          <a:p>
            <a:pPr marL="0" indent="0">
              <a:buNone/>
            </a:pPr>
            <a:r>
              <a:rPr lang="en-US" sz="1450" b="1" dirty="0">
                <a:solidFill>
                  <a:srgbClr val="232C5E"/>
                </a:solidFill>
                <a:latin typeface="Cambria" pitchFamily="34" charset="0"/>
                <a:ea typeface="Cambria" pitchFamily="34" charset="-122"/>
                <a:cs typeface="Cambria" pitchFamily="34" charset="-120"/>
              </a:rPr>
              <a:t>Microsoft Fabric · Lakehouse + Dataflow Gen2</a:t>
            </a:r>
            <a:endParaRPr lang="en-US" sz="1450" dirty="0"/>
          </a:p>
        </p:txBody>
      </p:sp>
      <p:sp>
        <p:nvSpPr>
          <p:cNvPr id="18" name="Text 16"/>
          <p:cNvSpPr/>
          <p:nvPr/>
        </p:nvSpPr>
        <p:spPr>
          <a:xfrm>
            <a:off x="777240" y="4846320"/>
            <a:ext cx="4892040" cy="1005840"/>
          </a:xfrm>
          <a:prstGeom prst="rect">
            <a:avLst/>
          </a:prstGeom>
          <a:noFill/>
          <a:ln/>
        </p:spPr>
        <p:txBody>
          <a:bodyPr wrap="square" rtlCol="0" anchor="ctr"/>
          <a:lstStyle/>
          <a:p>
            <a:pPr marL="0" indent="0">
              <a:lnSpc>
                <a:spcPct val="125000"/>
              </a:lnSpc>
              <a:buNone/>
            </a:pPr>
            <a:r>
              <a:rPr lang="en-US" sz="1150" dirty="0">
                <a:solidFill>
                  <a:srgbClr val="23263B"/>
                </a:solidFill>
                <a:latin typeface="Calibri" pitchFamily="34" charset="0"/>
                <a:ea typeface="Calibri" pitchFamily="34" charset="-122"/>
                <a:cs typeface="Calibri" pitchFamily="34" charset="-120"/>
              </a:rPr>
              <a:t>A repeatable, governed pipeline pulling cleaned data from GitHub into a Lakehouse  instead of a one-off manual upload.</a:t>
            </a:r>
            <a:endParaRPr lang="en-US" sz="1150" dirty="0"/>
          </a:p>
        </p:txBody>
      </p:sp>
      <p:sp>
        <p:nvSpPr>
          <p:cNvPr id="19" name="Shape 17"/>
          <p:cNvSpPr/>
          <p:nvPr/>
        </p:nvSpPr>
        <p:spPr>
          <a:xfrm>
            <a:off x="6263640" y="3977640"/>
            <a:ext cx="5349240" cy="2011680"/>
          </a:xfrm>
          <a:prstGeom prst="roundRect">
            <a:avLst>
              <a:gd name="adj" fmla="val 3636"/>
            </a:avLst>
          </a:prstGeom>
          <a:solidFill>
            <a:srgbClr val="FFFFFF"/>
          </a:solidFill>
          <a:ln w="12700">
            <a:solidFill>
              <a:srgbClr val="E7E8EF"/>
            </a:solidFill>
            <a:prstDash val="solid"/>
          </a:ln>
          <a:effectLst>
            <a:outerShdw blurRad="63500" dist="25400" dir="5400000" algn="bl" rotWithShape="0">
              <a:srgbClr val="000000">
                <a:alpha val="10000"/>
              </a:srgbClr>
            </a:outerShdw>
          </a:effectLst>
        </p:spPr>
      </p:sp>
      <p:sp>
        <p:nvSpPr>
          <p:cNvPr id="20" name="Shape 18"/>
          <p:cNvSpPr/>
          <p:nvPr/>
        </p:nvSpPr>
        <p:spPr>
          <a:xfrm>
            <a:off x="6492240" y="4206240"/>
            <a:ext cx="502920" cy="502920"/>
          </a:xfrm>
          <a:prstGeom prst="roundRect">
            <a:avLst>
              <a:gd name="adj" fmla="val 50909"/>
            </a:avLst>
          </a:prstGeom>
          <a:solidFill>
            <a:srgbClr val="2F3C7E"/>
          </a:solidFill>
          <a:ln/>
        </p:spPr>
      </p:sp>
      <p:sp>
        <p:nvSpPr>
          <p:cNvPr id="21" name="Text 19"/>
          <p:cNvSpPr/>
          <p:nvPr/>
        </p:nvSpPr>
        <p:spPr>
          <a:xfrm>
            <a:off x="6492240" y="4206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132320" y="4178808"/>
            <a:ext cx="4251960" cy="548640"/>
          </a:xfrm>
          <a:prstGeom prst="rect">
            <a:avLst/>
          </a:prstGeom>
          <a:noFill/>
          <a:ln/>
        </p:spPr>
        <p:txBody>
          <a:bodyPr wrap="square" rtlCol="0" anchor="ctr"/>
          <a:lstStyle/>
          <a:p>
            <a:pPr marL="0" indent="0">
              <a:buNone/>
            </a:pPr>
            <a:r>
              <a:rPr lang="en-US" sz="1450" b="1" dirty="0">
                <a:solidFill>
                  <a:srgbClr val="232C5E"/>
                </a:solidFill>
                <a:latin typeface="Cambria" pitchFamily="34" charset="0"/>
                <a:ea typeface="Cambria" pitchFamily="34" charset="-122"/>
                <a:cs typeface="Cambria" pitchFamily="34" charset="-120"/>
              </a:rPr>
              <a:t>Power BI</a:t>
            </a:r>
            <a:endParaRPr lang="en-US" sz="1450" dirty="0"/>
          </a:p>
        </p:txBody>
      </p:sp>
      <p:sp>
        <p:nvSpPr>
          <p:cNvPr id="23" name="Text 21"/>
          <p:cNvSpPr/>
          <p:nvPr/>
        </p:nvSpPr>
        <p:spPr>
          <a:xfrm>
            <a:off x="6492240" y="4846320"/>
            <a:ext cx="4892040" cy="1005840"/>
          </a:xfrm>
          <a:prstGeom prst="rect">
            <a:avLst/>
          </a:prstGeom>
          <a:noFill/>
          <a:ln/>
        </p:spPr>
        <p:txBody>
          <a:bodyPr wrap="square" rtlCol="0" anchor="ctr"/>
          <a:lstStyle/>
          <a:p>
            <a:pPr marL="0" indent="0">
              <a:lnSpc>
                <a:spcPct val="125000"/>
              </a:lnSpc>
              <a:buNone/>
            </a:pPr>
            <a:r>
              <a:rPr lang="en-US" sz="1150" dirty="0">
                <a:solidFill>
                  <a:srgbClr val="23263B"/>
                </a:solidFill>
                <a:latin typeface="Calibri" pitchFamily="34" charset="0"/>
                <a:ea typeface="Calibri" pitchFamily="34" charset="-122"/>
                <a:cs typeface="Calibri" pitchFamily="34" charset="-120"/>
              </a:rPr>
              <a:t>A 3-page live, interactive dashboard with DAX measures, built on the same governed semantic model as the SQL layer.</a:t>
            </a:r>
            <a:endParaRPr lang="en-US" sz="1150" dirty="0"/>
          </a:p>
        </p:txBody>
      </p:sp>
      <p:sp>
        <p:nvSpPr>
          <p:cNvPr id="24" name="Text 2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Tools &amp; Technologies</a:t>
            </a:r>
            <a:endParaRPr lang="en-US" sz="1000" dirty="0"/>
          </a:p>
        </p:txBody>
      </p:sp>
      <p:sp>
        <p:nvSpPr>
          <p:cNvPr id="25" name="Text 23"/>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KEY INSIGHTS · 1 OF 3</a:t>
            </a:r>
            <a:endParaRPr lang="en-US" sz="13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Baseline, city, traffic &amp; weather</a:t>
            </a:r>
            <a:endParaRPr lang="en-US" sz="3200" dirty="0"/>
          </a:p>
        </p:txBody>
      </p:sp>
      <p:sp>
        <p:nvSpPr>
          <p:cNvPr id="4" name="Shape 2"/>
          <p:cNvSpPr/>
          <p:nvPr/>
        </p:nvSpPr>
        <p:spPr>
          <a:xfrm>
            <a:off x="548640" y="1645920"/>
            <a:ext cx="2606040" cy="1234440"/>
          </a:xfrm>
          <a:prstGeom prst="roundRect">
            <a:avLst>
              <a:gd name="adj" fmla="val 6667"/>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5" name="Text 3"/>
          <p:cNvSpPr/>
          <p:nvPr/>
        </p:nvSpPr>
        <p:spPr>
          <a:xfrm>
            <a:off x="640080" y="1755648"/>
            <a:ext cx="2423160" cy="678942"/>
          </a:xfrm>
          <a:prstGeom prst="rect">
            <a:avLst/>
          </a:prstGeom>
          <a:noFill/>
          <a:ln/>
        </p:spPr>
        <p:txBody>
          <a:bodyPr wrap="square" rtlCol="0" anchor="b"/>
          <a:lstStyle/>
          <a:p>
            <a:pPr marL="0" indent="0" algn="ctr">
              <a:buNone/>
            </a:pPr>
            <a:r>
              <a:rPr lang="en-US" sz="2400" b="1" dirty="0">
                <a:solidFill>
                  <a:srgbClr val="232C5E"/>
                </a:solidFill>
                <a:latin typeface="Cambria" pitchFamily="34" charset="0"/>
                <a:ea typeface="Cambria" pitchFamily="34" charset="-122"/>
                <a:cs typeface="Cambria" pitchFamily="34" charset="-120"/>
              </a:rPr>
              <a:t>26 min</a:t>
            </a:r>
            <a:endParaRPr lang="en-US" sz="2400" dirty="0"/>
          </a:p>
        </p:txBody>
      </p:sp>
      <p:sp>
        <p:nvSpPr>
          <p:cNvPr id="6" name="Text 4"/>
          <p:cNvSpPr/>
          <p:nvPr/>
        </p:nvSpPr>
        <p:spPr>
          <a:xfrm>
            <a:off x="640080" y="2386584"/>
            <a:ext cx="2423160" cy="469087"/>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Overall avg (10–54 min range)</a:t>
            </a:r>
            <a:endParaRPr lang="en-US" sz="1100" dirty="0"/>
          </a:p>
        </p:txBody>
      </p:sp>
      <p:sp>
        <p:nvSpPr>
          <p:cNvPr id="7" name="Shape 5"/>
          <p:cNvSpPr/>
          <p:nvPr/>
        </p:nvSpPr>
        <p:spPr>
          <a:xfrm>
            <a:off x="3291840" y="1645920"/>
            <a:ext cx="2606040" cy="1234440"/>
          </a:xfrm>
          <a:prstGeom prst="roundRect">
            <a:avLst>
              <a:gd name="adj" fmla="val 6667"/>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8" name="Text 6"/>
          <p:cNvSpPr/>
          <p:nvPr/>
        </p:nvSpPr>
        <p:spPr>
          <a:xfrm>
            <a:off x="3383280" y="1755648"/>
            <a:ext cx="2423160" cy="678942"/>
          </a:xfrm>
          <a:prstGeom prst="rect">
            <a:avLst/>
          </a:prstGeom>
          <a:noFill/>
          <a:ln/>
        </p:spPr>
        <p:txBody>
          <a:bodyPr wrap="square" rtlCol="0" anchor="b"/>
          <a:lstStyle/>
          <a:p>
            <a:pPr marL="0" indent="0" algn="ctr">
              <a:buNone/>
            </a:pPr>
            <a:r>
              <a:rPr lang="en-US" sz="2400" b="1" dirty="0">
                <a:solidFill>
                  <a:srgbClr val="232C5E"/>
                </a:solidFill>
                <a:latin typeface="Cambria" pitchFamily="34" charset="0"/>
                <a:ea typeface="Cambria" pitchFamily="34" charset="-122"/>
                <a:cs typeface="Cambria" pitchFamily="34" charset="-120"/>
              </a:rPr>
              <a:t>27 min</a:t>
            </a:r>
            <a:endParaRPr lang="en-US" sz="2400" dirty="0"/>
          </a:p>
        </p:txBody>
      </p:sp>
      <p:sp>
        <p:nvSpPr>
          <p:cNvPr id="9" name="Text 7"/>
          <p:cNvSpPr/>
          <p:nvPr/>
        </p:nvSpPr>
        <p:spPr>
          <a:xfrm>
            <a:off x="3383280" y="2386584"/>
            <a:ext cx="2423160" cy="469087"/>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Metropolitan — slowest by volume</a:t>
            </a:r>
            <a:endParaRPr lang="en-US" sz="1100" dirty="0"/>
          </a:p>
          <a:p>
            <a:pPr marL="0" indent="0" algn="ctr">
              <a:buNone/>
            </a:pPr>
            <a:r>
              <a:rPr lang="en-US" sz="1100" dirty="0">
                <a:solidFill>
                  <a:srgbClr val="6B7080"/>
                </a:solidFill>
                <a:latin typeface="Calibri" pitchFamily="34" charset="0"/>
                <a:ea typeface="Calibri" pitchFamily="34" charset="-122"/>
                <a:cs typeface="Calibri" pitchFamily="34" charset="-120"/>
              </a:rPr>
              <a:t>(34,000+ orders)</a:t>
            </a:r>
            <a:endParaRPr lang="en-US" sz="1100" dirty="0"/>
          </a:p>
        </p:txBody>
      </p:sp>
      <p:sp>
        <p:nvSpPr>
          <p:cNvPr id="10" name="Shape 8"/>
          <p:cNvSpPr/>
          <p:nvPr/>
        </p:nvSpPr>
        <p:spPr>
          <a:xfrm>
            <a:off x="6035040" y="1645920"/>
            <a:ext cx="2606040" cy="1234440"/>
          </a:xfrm>
          <a:prstGeom prst="roundRect">
            <a:avLst>
              <a:gd name="adj" fmla="val 6667"/>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11" name="Text 9"/>
          <p:cNvSpPr/>
          <p:nvPr/>
        </p:nvSpPr>
        <p:spPr>
          <a:xfrm>
            <a:off x="6126480" y="1755648"/>
            <a:ext cx="2423160" cy="678942"/>
          </a:xfrm>
          <a:prstGeom prst="rect">
            <a:avLst/>
          </a:prstGeom>
          <a:noFill/>
          <a:ln/>
        </p:spPr>
        <p:txBody>
          <a:bodyPr wrap="square" rtlCol="0" anchor="b"/>
          <a:lstStyle/>
          <a:p>
            <a:pPr marL="0" indent="0" algn="ctr">
              <a:buNone/>
            </a:pPr>
            <a:r>
              <a:rPr lang="en-US" sz="2400" b="1" dirty="0">
                <a:solidFill>
                  <a:srgbClr val="F96167"/>
                </a:solidFill>
                <a:latin typeface="Cambria" pitchFamily="34" charset="0"/>
                <a:ea typeface="Cambria" pitchFamily="34" charset="-122"/>
                <a:cs typeface="Cambria" pitchFamily="34" charset="-120"/>
              </a:rPr>
              <a:t>+10 min</a:t>
            </a:r>
            <a:endParaRPr lang="en-US" sz="2400" dirty="0"/>
          </a:p>
        </p:txBody>
      </p:sp>
      <p:sp>
        <p:nvSpPr>
          <p:cNvPr id="12" name="Text 10"/>
          <p:cNvSpPr/>
          <p:nvPr/>
        </p:nvSpPr>
        <p:spPr>
          <a:xfrm>
            <a:off x="6126480" y="2386584"/>
            <a:ext cx="2423160" cy="469087"/>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Jam traffic vs. Low traffic</a:t>
            </a:r>
            <a:endParaRPr lang="en-US" sz="1100" dirty="0"/>
          </a:p>
        </p:txBody>
      </p:sp>
      <p:sp>
        <p:nvSpPr>
          <p:cNvPr id="13" name="Shape 11"/>
          <p:cNvSpPr/>
          <p:nvPr/>
        </p:nvSpPr>
        <p:spPr>
          <a:xfrm>
            <a:off x="8778240" y="1645920"/>
            <a:ext cx="2606040" cy="1234440"/>
          </a:xfrm>
          <a:prstGeom prst="roundRect">
            <a:avLst>
              <a:gd name="adj" fmla="val 6667"/>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14" name="Text 12"/>
          <p:cNvSpPr/>
          <p:nvPr/>
        </p:nvSpPr>
        <p:spPr>
          <a:xfrm>
            <a:off x="8869680" y="1755648"/>
            <a:ext cx="2423160" cy="678942"/>
          </a:xfrm>
          <a:prstGeom prst="rect">
            <a:avLst/>
          </a:prstGeom>
          <a:noFill/>
          <a:ln/>
        </p:spPr>
        <p:txBody>
          <a:bodyPr wrap="square" rtlCol="0" anchor="b"/>
          <a:lstStyle/>
          <a:p>
            <a:pPr marL="0" indent="0" algn="ctr">
              <a:buNone/>
            </a:pPr>
            <a:r>
              <a:rPr lang="en-US" sz="2400" b="1" dirty="0">
                <a:solidFill>
                  <a:srgbClr val="F96167"/>
                </a:solidFill>
                <a:latin typeface="Cambria" pitchFamily="34" charset="0"/>
                <a:ea typeface="Cambria" pitchFamily="34" charset="-122"/>
                <a:cs typeface="Cambria" pitchFamily="34" charset="-120"/>
              </a:rPr>
              <a:t>28 min</a:t>
            </a:r>
            <a:endParaRPr lang="en-US" sz="2400" dirty="0"/>
          </a:p>
        </p:txBody>
      </p:sp>
      <p:sp>
        <p:nvSpPr>
          <p:cNvPr id="15" name="Text 13"/>
          <p:cNvSpPr/>
          <p:nvPr/>
        </p:nvSpPr>
        <p:spPr>
          <a:xfrm>
            <a:off x="8869680" y="2386584"/>
            <a:ext cx="2423160" cy="469087"/>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Fog &amp; Cloudy — slowest weather</a:t>
            </a:r>
            <a:endParaRPr lang="en-US" sz="1100" dirty="0"/>
          </a:p>
          <a:p>
            <a:pPr marL="0" indent="0" algn="ctr">
              <a:buNone/>
            </a:pPr>
            <a:r>
              <a:rPr lang="en-US" sz="1100" dirty="0">
                <a:solidFill>
                  <a:srgbClr val="6B7080"/>
                </a:solidFill>
                <a:latin typeface="Calibri" pitchFamily="34" charset="0"/>
                <a:ea typeface="Calibri" pitchFamily="34" charset="-122"/>
                <a:cs typeface="Calibri" pitchFamily="34" charset="-120"/>
              </a:rPr>
              <a:t>(not storms)</a:t>
            </a:r>
            <a:endParaRPr lang="en-US" sz="1100" dirty="0"/>
          </a:p>
        </p:txBody>
      </p:sp>
      <p:pic>
        <p:nvPicPr>
          <p:cNvPr id="16" name="Image 0" descr="/mnt/user-data/uploads/Charts.png"/>
          <p:cNvPicPr>
            <a:picLocks noChangeAspect="1"/>
          </p:cNvPicPr>
          <p:nvPr/>
        </p:nvPicPr>
        <p:blipFill>
          <a:blip r:embed="rId3"/>
          <a:stretch>
            <a:fillRect/>
          </a:stretch>
        </p:blipFill>
        <p:spPr>
          <a:xfrm>
            <a:off x="3059707" y="3154680"/>
            <a:ext cx="5813506" cy="3246120"/>
          </a:xfrm>
          <a:prstGeom prst="rect">
            <a:avLst/>
          </a:prstGeom>
        </p:spPr>
      </p:pic>
      <p:sp>
        <p:nvSpPr>
          <p:cNvPr id="17" name="Shape 14"/>
          <p:cNvSpPr/>
          <p:nvPr/>
        </p:nvSpPr>
        <p:spPr>
          <a:xfrm>
            <a:off x="3059707" y="3154680"/>
            <a:ext cx="5813506" cy="3246120"/>
          </a:xfrm>
          <a:prstGeom prst="rect">
            <a:avLst/>
          </a:prstGeom>
          <a:ln w="12700">
            <a:solidFill>
              <a:srgbClr val="E7E8EF"/>
            </a:solidFill>
            <a:prstDash val="solid"/>
          </a:ln>
        </p:spPr>
      </p:sp>
      <p:sp>
        <p:nvSpPr>
          <p:cNvPr id="18" name="Text 1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Key Insights</a:t>
            </a:r>
            <a:endParaRPr lang="en-US" sz="1000" dirty="0"/>
          </a:p>
        </p:txBody>
      </p:sp>
      <p:sp>
        <p:nvSpPr>
          <p:cNvPr id="19" name="Text 16"/>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KEY INSIGHTS · 2 OF 3</a:t>
            </a:r>
            <a:endParaRPr lang="en-US" sz="13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Distance, vehicle, agent rating &amp; bundling</a:t>
            </a:r>
            <a:endParaRPr lang="en-US" sz="3200" dirty="0"/>
          </a:p>
        </p:txBody>
      </p:sp>
      <p:pic>
        <p:nvPicPr>
          <p:cNvPr id="4" name="Image 0" descr="/mnt/user-data/uploads/DeepDive.png"/>
          <p:cNvPicPr>
            <a:picLocks noChangeAspect="1"/>
          </p:cNvPicPr>
          <p:nvPr/>
        </p:nvPicPr>
        <p:blipFill>
          <a:blip r:embed="rId3"/>
          <a:stretch>
            <a:fillRect/>
          </a:stretch>
        </p:blipFill>
        <p:spPr>
          <a:xfrm>
            <a:off x="548640" y="1645920"/>
            <a:ext cx="5943600" cy="4171482"/>
          </a:xfrm>
          <a:prstGeom prst="rect">
            <a:avLst/>
          </a:prstGeom>
        </p:spPr>
      </p:pic>
      <p:sp>
        <p:nvSpPr>
          <p:cNvPr id="5" name="Shape 2"/>
          <p:cNvSpPr/>
          <p:nvPr/>
        </p:nvSpPr>
        <p:spPr>
          <a:xfrm>
            <a:off x="548640" y="1645920"/>
            <a:ext cx="5943600" cy="4171482"/>
          </a:xfrm>
          <a:prstGeom prst="rect">
            <a:avLst/>
          </a:prstGeom>
          <a:ln w="12700">
            <a:solidFill>
              <a:srgbClr val="E7E8EF"/>
            </a:solidFill>
            <a:prstDash val="solid"/>
          </a:ln>
        </p:spPr>
      </p:sp>
      <p:sp>
        <p:nvSpPr>
          <p:cNvPr id="6" name="Shape 3"/>
          <p:cNvSpPr/>
          <p:nvPr/>
        </p:nvSpPr>
        <p:spPr>
          <a:xfrm>
            <a:off x="6720840" y="1691640"/>
            <a:ext cx="4892040" cy="1170432"/>
          </a:xfrm>
          <a:prstGeom prst="roundRect">
            <a:avLst>
              <a:gd name="adj" fmla="val 5469"/>
            </a:avLst>
          </a:prstGeom>
          <a:solidFill>
            <a:srgbClr val="FFFFFF"/>
          </a:solidFill>
          <a:ln w="12700">
            <a:solidFill>
              <a:srgbClr val="E7E8EF"/>
            </a:solidFill>
            <a:prstDash val="solid"/>
          </a:ln>
        </p:spPr>
      </p:sp>
      <p:sp>
        <p:nvSpPr>
          <p:cNvPr id="7" name="Text 4"/>
          <p:cNvSpPr/>
          <p:nvPr/>
        </p:nvSpPr>
        <p:spPr>
          <a:xfrm>
            <a:off x="6903720" y="1764792"/>
            <a:ext cx="4572000" cy="292608"/>
          </a:xfrm>
          <a:prstGeom prst="rect">
            <a:avLst/>
          </a:prstGeom>
          <a:noFill/>
          <a:ln/>
        </p:spPr>
        <p:txBody>
          <a:bodyPr wrap="square" rtlCol="0" anchor="ctr"/>
          <a:lstStyle/>
          <a:p>
            <a:pPr marL="0" indent="0">
              <a:buNone/>
            </a:pPr>
            <a:r>
              <a:rPr lang="en-US" sz="1300" b="1" dirty="0">
                <a:solidFill>
                  <a:srgbClr val="F96167"/>
                </a:solidFill>
                <a:latin typeface="Cambria" pitchFamily="34" charset="0"/>
                <a:ea typeface="Cambria" pitchFamily="34" charset="-122"/>
                <a:cs typeface="Cambria" pitchFamily="34" charset="-120"/>
              </a:rPr>
              <a:t>Distance</a:t>
            </a:r>
            <a:endParaRPr lang="en-US" sz="1300" dirty="0"/>
          </a:p>
        </p:txBody>
      </p:sp>
      <p:sp>
        <p:nvSpPr>
          <p:cNvPr id="8" name="Text 5"/>
          <p:cNvSpPr/>
          <p:nvPr/>
        </p:nvSpPr>
        <p:spPr>
          <a:xfrm>
            <a:off x="6903720" y="2075688"/>
            <a:ext cx="4526280" cy="731520"/>
          </a:xfrm>
          <a:prstGeom prst="rect">
            <a:avLst/>
          </a:prstGeom>
          <a:noFill/>
          <a:ln/>
        </p:spPr>
        <p:txBody>
          <a:bodyPr wrap="square" rtlCol="0" anchor="ctr"/>
          <a:lstStyle/>
          <a:p>
            <a:pPr marL="0" indent="0">
              <a:lnSpc>
                <a:spcPct val="120000"/>
              </a:lnSpc>
              <a:buNone/>
            </a:pPr>
            <a:r>
              <a:rPr lang="en-US" sz="1100" dirty="0">
                <a:solidFill>
                  <a:srgbClr val="23263B"/>
                </a:solidFill>
                <a:latin typeface="Calibri" pitchFamily="34" charset="0"/>
                <a:ea typeface="Calibri" pitchFamily="34" charset="-122"/>
                <a:cs typeface="Calibri" pitchFamily="34" charset="-120"/>
              </a:rPr>
              <a:t>Crossing the 5 km mark is the real cost — time plateaus after that, it isn't proportional to distance.</a:t>
            </a:r>
            <a:endParaRPr lang="en-US" sz="1100" dirty="0"/>
          </a:p>
        </p:txBody>
      </p:sp>
      <p:sp>
        <p:nvSpPr>
          <p:cNvPr id="9" name="Shape 6"/>
          <p:cNvSpPr/>
          <p:nvPr/>
        </p:nvSpPr>
        <p:spPr>
          <a:xfrm>
            <a:off x="6720840" y="2971800"/>
            <a:ext cx="4892040" cy="1170432"/>
          </a:xfrm>
          <a:prstGeom prst="roundRect">
            <a:avLst>
              <a:gd name="adj" fmla="val 5469"/>
            </a:avLst>
          </a:prstGeom>
          <a:solidFill>
            <a:srgbClr val="FFFFFF"/>
          </a:solidFill>
          <a:ln w="12700">
            <a:solidFill>
              <a:srgbClr val="E7E8EF"/>
            </a:solidFill>
            <a:prstDash val="solid"/>
          </a:ln>
        </p:spPr>
      </p:sp>
      <p:sp>
        <p:nvSpPr>
          <p:cNvPr id="10" name="Text 7"/>
          <p:cNvSpPr/>
          <p:nvPr/>
        </p:nvSpPr>
        <p:spPr>
          <a:xfrm>
            <a:off x="6903720" y="3044952"/>
            <a:ext cx="4572000" cy="292608"/>
          </a:xfrm>
          <a:prstGeom prst="rect">
            <a:avLst/>
          </a:prstGeom>
          <a:noFill/>
          <a:ln/>
        </p:spPr>
        <p:txBody>
          <a:bodyPr wrap="square" rtlCol="0" anchor="ctr"/>
          <a:lstStyle/>
          <a:p>
            <a:pPr marL="0" indent="0">
              <a:buNone/>
            </a:pPr>
            <a:r>
              <a:rPr lang="en-US" sz="1300" b="1" dirty="0">
                <a:solidFill>
                  <a:srgbClr val="F96167"/>
                </a:solidFill>
                <a:latin typeface="Cambria" pitchFamily="34" charset="0"/>
                <a:ea typeface="Cambria" pitchFamily="34" charset="-122"/>
                <a:cs typeface="Cambria" pitchFamily="34" charset="-120"/>
              </a:rPr>
              <a:t>Vehicle type</a:t>
            </a:r>
            <a:endParaRPr lang="en-US" sz="1300" dirty="0"/>
          </a:p>
        </p:txBody>
      </p:sp>
      <p:sp>
        <p:nvSpPr>
          <p:cNvPr id="11" name="Text 8"/>
          <p:cNvSpPr/>
          <p:nvPr/>
        </p:nvSpPr>
        <p:spPr>
          <a:xfrm>
            <a:off x="6903720" y="3355848"/>
            <a:ext cx="4526280" cy="731520"/>
          </a:xfrm>
          <a:prstGeom prst="rect">
            <a:avLst/>
          </a:prstGeom>
          <a:noFill/>
          <a:ln/>
        </p:spPr>
        <p:txBody>
          <a:bodyPr wrap="square" rtlCol="0" anchor="ctr"/>
          <a:lstStyle/>
          <a:p>
            <a:pPr marL="0" indent="0">
              <a:lnSpc>
                <a:spcPct val="120000"/>
              </a:lnSpc>
              <a:buNone/>
            </a:pPr>
            <a:r>
              <a:rPr lang="en-US" sz="1100" dirty="0">
                <a:solidFill>
                  <a:srgbClr val="23263B"/>
                </a:solidFill>
                <a:latin typeface="Calibri" pitchFamily="34" charset="0"/>
                <a:ea typeface="Calibri" pitchFamily="34" charset="-122"/>
                <a:cs typeface="Calibri" pitchFamily="34" charset="-120"/>
              </a:rPr>
              <a:t>Minor effect (~3 min) between fastest and slowest vehicle.</a:t>
            </a:r>
            <a:endParaRPr lang="en-US" sz="1100" dirty="0"/>
          </a:p>
        </p:txBody>
      </p:sp>
      <p:sp>
        <p:nvSpPr>
          <p:cNvPr id="12" name="Shape 9"/>
          <p:cNvSpPr/>
          <p:nvPr/>
        </p:nvSpPr>
        <p:spPr>
          <a:xfrm>
            <a:off x="6720840" y="4251960"/>
            <a:ext cx="4892040" cy="1170432"/>
          </a:xfrm>
          <a:prstGeom prst="roundRect">
            <a:avLst>
              <a:gd name="adj" fmla="val 5469"/>
            </a:avLst>
          </a:prstGeom>
          <a:solidFill>
            <a:srgbClr val="FFFFFF"/>
          </a:solidFill>
          <a:ln w="12700">
            <a:solidFill>
              <a:srgbClr val="E7E8EF"/>
            </a:solidFill>
            <a:prstDash val="solid"/>
          </a:ln>
        </p:spPr>
      </p:sp>
      <p:sp>
        <p:nvSpPr>
          <p:cNvPr id="13" name="Text 10"/>
          <p:cNvSpPr/>
          <p:nvPr/>
        </p:nvSpPr>
        <p:spPr>
          <a:xfrm>
            <a:off x="6903720" y="4325112"/>
            <a:ext cx="4572000" cy="292608"/>
          </a:xfrm>
          <a:prstGeom prst="rect">
            <a:avLst/>
          </a:prstGeom>
          <a:noFill/>
          <a:ln/>
        </p:spPr>
        <p:txBody>
          <a:bodyPr wrap="square" rtlCol="0" anchor="ctr"/>
          <a:lstStyle/>
          <a:p>
            <a:pPr marL="0" indent="0">
              <a:buNone/>
            </a:pPr>
            <a:r>
              <a:rPr lang="en-US" sz="1300" b="1" dirty="0">
                <a:solidFill>
                  <a:srgbClr val="F96167"/>
                </a:solidFill>
                <a:latin typeface="Cambria" pitchFamily="34" charset="0"/>
                <a:ea typeface="Cambria" pitchFamily="34" charset="-122"/>
                <a:cs typeface="Cambria" pitchFamily="34" charset="-120"/>
              </a:rPr>
              <a:t>Agent rating</a:t>
            </a:r>
            <a:endParaRPr lang="en-US" sz="1300" dirty="0"/>
          </a:p>
        </p:txBody>
      </p:sp>
      <p:sp>
        <p:nvSpPr>
          <p:cNvPr id="14" name="Text 11"/>
          <p:cNvSpPr/>
          <p:nvPr/>
        </p:nvSpPr>
        <p:spPr>
          <a:xfrm>
            <a:off x="6903720" y="4636008"/>
            <a:ext cx="4526280" cy="731520"/>
          </a:xfrm>
          <a:prstGeom prst="rect">
            <a:avLst/>
          </a:prstGeom>
          <a:noFill/>
          <a:ln/>
        </p:spPr>
        <p:txBody>
          <a:bodyPr wrap="square" rtlCol="0" anchor="ctr"/>
          <a:lstStyle/>
          <a:p>
            <a:pPr marL="0" indent="0">
              <a:lnSpc>
                <a:spcPct val="120000"/>
              </a:lnSpc>
              <a:buNone/>
            </a:pPr>
            <a:r>
              <a:rPr lang="en-US" sz="1100" dirty="0">
                <a:solidFill>
                  <a:srgbClr val="23263B"/>
                </a:solidFill>
                <a:latin typeface="Calibri" pitchFamily="34" charset="0"/>
                <a:ea typeface="Calibri" pitchFamily="34" charset="-122"/>
                <a:cs typeface="Calibri" pitchFamily="34" charset="-120"/>
              </a:rPr>
              <a:t>4.5+ rated agents deliver 10–13 min faster than every lower bucket — the clearest pattern in the dataset.</a:t>
            </a:r>
            <a:endParaRPr lang="en-US" sz="1100" dirty="0"/>
          </a:p>
        </p:txBody>
      </p:sp>
      <p:sp>
        <p:nvSpPr>
          <p:cNvPr id="15" name="Shape 12"/>
          <p:cNvSpPr/>
          <p:nvPr/>
        </p:nvSpPr>
        <p:spPr>
          <a:xfrm>
            <a:off x="6720840" y="5532120"/>
            <a:ext cx="4892040" cy="1170432"/>
          </a:xfrm>
          <a:prstGeom prst="roundRect">
            <a:avLst>
              <a:gd name="adj" fmla="val 5469"/>
            </a:avLst>
          </a:prstGeom>
          <a:solidFill>
            <a:srgbClr val="FFFFFF"/>
          </a:solidFill>
          <a:ln w="12700">
            <a:solidFill>
              <a:srgbClr val="E7E8EF"/>
            </a:solidFill>
            <a:prstDash val="solid"/>
          </a:ln>
        </p:spPr>
      </p:sp>
      <p:sp>
        <p:nvSpPr>
          <p:cNvPr id="16" name="Text 13"/>
          <p:cNvSpPr/>
          <p:nvPr/>
        </p:nvSpPr>
        <p:spPr>
          <a:xfrm>
            <a:off x="6903720" y="5605272"/>
            <a:ext cx="4572000" cy="292608"/>
          </a:xfrm>
          <a:prstGeom prst="rect">
            <a:avLst/>
          </a:prstGeom>
          <a:noFill/>
          <a:ln/>
        </p:spPr>
        <p:txBody>
          <a:bodyPr wrap="square" rtlCol="0" anchor="ctr"/>
          <a:lstStyle/>
          <a:p>
            <a:pPr marL="0" indent="0">
              <a:buNone/>
            </a:pPr>
            <a:r>
              <a:rPr lang="en-US" sz="1300" b="1" dirty="0">
                <a:solidFill>
                  <a:srgbClr val="F96167"/>
                </a:solidFill>
                <a:latin typeface="Cambria" pitchFamily="34" charset="0"/>
                <a:ea typeface="Cambria" pitchFamily="34" charset="-122"/>
                <a:cs typeface="Cambria" pitchFamily="34" charset="-120"/>
              </a:rPr>
              <a:t>Bundled orders</a:t>
            </a:r>
            <a:endParaRPr lang="en-US" sz="1300" dirty="0"/>
          </a:p>
        </p:txBody>
      </p:sp>
      <p:sp>
        <p:nvSpPr>
          <p:cNvPr id="17" name="Text 14"/>
          <p:cNvSpPr/>
          <p:nvPr/>
        </p:nvSpPr>
        <p:spPr>
          <a:xfrm>
            <a:off x="6903720" y="5916168"/>
            <a:ext cx="4526280" cy="731520"/>
          </a:xfrm>
          <a:prstGeom prst="rect">
            <a:avLst/>
          </a:prstGeom>
          <a:noFill/>
          <a:ln/>
        </p:spPr>
        <p:txBody>
          <a:bodyPr wrap="square" rtlCol="0" anchor="ctr"/>
          <a:lstStyle/>
          <a:p>
            <a:pPr marL="0" indent="0">
              <a:lnSpc>
                <a:spcPct val="120000"/>
              </a:lnSpc>
              <a:buNone/>
            </a:pPr>
            <a:r>
              <a:rPr lang="en-US" sz="1100" dirty="0">
                <a:solidFill>
                  <a:srgbClr val="23263B"/>
                </a:solidFill>
                <a:latin typeface="Calibri" pitchFamily="34" charset="0"/>
                <a:ea typeface="Calibri" pitchFamily="34" charset="-122"/>
                <a:cs typeface="Calibri" pitchFamily="34" charset="-120"/>
              </a:rPr>
              <a:t>2–3 bundled orders more than doubles delivery time (22 → 47 min), and the cost accelerates with each extra stop.</a:t>
            </a:r>
            <a:endParaRPr lang="en-US" sz="1100" dirty="0"/>
          </a:p>
        </p:txBody>
      </p:sp>
      <p:sp>
        <p:nvSpPr>
          <p:cNvPr id="18" name="Text 1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Key Insights</a:t>
            </a:r>
            <a:endParaRPr lang="en-US" sz="1000" dirty="0"/>
          </a:p>
        </p:txBody>
      </p:sp>
      <p:sp>
        <p:nvSpPr>
          <p:cNvPr id="19" name="Text 16"/>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KEY INSIGHTS · 3 OF 3</a:t>
            </a:r>
            <a:endParaRPr lang="en-US" sz="13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Festival impact &amp; the trend over time</a:t>
            </a:r>
            <a:endParaRPr lang="en-US" sz="3200" dirty="0"/>
          </a:p>
        </p:txBody>
      </p:sp>
      <p:sp>
        <p:nvSpPr>
          <p:cNvPr id="4" name="Shape 2"/>
          <p:cNvSpPr/>
          <p:nvPr/>
        </p:nvSpPr>
        <p:spPr>
          <a:xfrm>
            <a:off x="548640" y="1645920"/>
            <a:ext cx="3566160" cy="1463040"/>
          </a:xfrm>
          <a:prstGeom prst="roundRect">
            <a:avLst>
              <a:gd name="adj" fmla="val 5625"/>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5" name="Text 3"/>
          <p:cNvSpPr/>
          <p:nvPr/>
        </p:nvSpPr>
        <p:spPr>
          <a:xfrm>
            <a:off x="640080" y="1755648"/>
            <a:ext cx="3383280" cy="804672"/>
          </a:xfrm>
          <a:prstGeom prst="rect">
            <a:avLst/>
          </a:prstGeom>
          <a:noFill/>
          <a:ln/>
        </p:spPr>
        <p:txBody>
          <a:bodyPr wrap="square" rtlCol="0" anchor="b"/>
          <a:lstStyle/>
          <a:p>
            <a:pPr marL="0" indent="0" algn="ctr">
              <a:buNone/>
            </a:pPr>
            <a:r>
              <a:rPr lang="en-US" sz="3200" b="1" dirty="0">
                <a:solidFill>
                  <a:srgbClr val="F96167"/>
                </a:solidFill>
                <a:latin typeface="Cambria" pitchFamily="34" charset="0"/>
                <a:ea typeface="Cambria" pitchFamily="34" charset="-122"/>
                <a:cs typeface="Cambria" pitchFamily="34" charset="-120"/>
              </a:rPr>
              <a:t>75–80%</a:t>
            </a:r>
            <a:endParaRPr lang="en-US" sz="3200" dirty="0"/>
          </a:p>
        </p:txBody>
      </p:sp>
      <p:sp>
        <p:nvSpPr>
          <p:cNvPr id="6" name="Text 4"/>
          <p:cNvSpPr/>
          <p:nvPr/>
        </p:nvSpPr>
        <p:spPr>
          <a:xfrm>
            <a:off x="640080" y="2523744"/>
            <a:ext cx="3383280" cy="555955"/>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Festival days are slower than</a:t>
            </a:r>
            <a:endParaRPr lang="en-US" sz="1100" dirty="0"/>
          </a:p>
          <a:p>
            <a:pPr marL="0" indent="0" algn="ctr">
              <a:buNone/>
            </a:pPr>
            <a:r>
              <a:rPr lang="en-US" sz="1100" dirty="0">
                <a:solidFill>
                  <a:srgbClr val="6B7080"/>
                </a:solidFill>
                <a:latin typeface="Calibri" pitchFamily="34" charset="0"/>
                <a:ea typeface="Calibri" pitchFamily="34" charset="-122"/>
                <a:cs typeface="Calibri" pitchFamily="34" charset="-120"/>
              </a:rPr>
              <a:t>normal days — the largest single</a:t>
            </a:r>
            <a:endParaRPr lang="en-US" sz="1100" dirty="0"/>
          </a:p>
          <a:p>
            <a:pPr marL="0" indent="0" algn="ctr">
              <a:buNone/>
            </a:pPr>
            <a:r>
              <a:rPr lang="en-US" sz="1100" dirty="0">
                <a:solidFill>
                  <a:srgbClr val="6B7080"/>
                </a:solidFill>
                <a:latin typeface="Calibri" pitchFamily="34" charset="0"/>
                <a:ea typeface="Calibri" pitchFamily="34" charset="-122"/>
                <a:cs typeface="Calibri" pitchFamily="34" charset="-120"/>
              </a:rPr>
              <a:t>effect found across all 10 questions</a:t>
            </a:r>
            <a:endParaRPr lang="en-US" sz="1100" dirty="0"/>
          </a:p>
        </p:txBody>
      </p:sp>
      <p:sp>
        <p:nvSpPr>
          <p:cNvPr id="7" name="Shape 5"/>
          <p:cNvSpPr/>
          <p:nvPr/>
        </p:nvSpPr>
        <p:spPr>
          <a:xfrm>
            <a:off x="548640" y="3246120"/>
            <a:ext cx="3566160" cy="1463040"/>
          </a:xfrm>
          <a:prstGeom prst="roundRect">
            <a:avLst>
              <a:gd name="adj" fmla="val 5625"/>
            </a:avLst>
          </a:prstGeom>
          <a:solidFill>
            <a:srgbClr val="F7F7F9"/>
          </a:solidFill>
          <a:ln w="12700">
            <a:solidFill>
              <a:srgbClr val="E7E8EF"/>
            </a:solidFill>
            <a:prstDash val="solid"/>
          </a:ln>
          <a:effectLst>
            <a:outerShdw blurRad="76200" dist="25400" dir="5400000" algn="bl" rotWithShape="0">
              <a:srgbClr val="000000">
                <a:alpha val="12000"/>
              </a:srgbClr>
            </a:outerShdw>
          </a:effectLst>
        </p:spPr>
      </p:sp>
      <p:sp>
        <p:nvSpPr>
          <p:cNvPr id="8" name="Text 6"/>
          <p:cNvSpPr/>
          <p:nvPr/>
        </p:nvSpPr>
        <p:spPr>
          <a:xfrm>
            <a:off x="640080" y="3355848"/>
            <a:ext cx="3383280" cy="804672"/>
          </a:xfrm>
          <a:prstGeom prst="rect">
            <a:avLst/>
          </a:prstGeom>
          <a:noFill/>
          <a:ln/>
        </p:spPr>
        <p:txBody>
          <a:bodyPr wrap="square" rtlCol="0" anchor="b"/>
          <a:lstStyle/>
          <a:p>
            <a:pPr marL="0" indent="0" algn="ctr">
              <a:buNone/>
            </a:pPr>
            <a:r>
              <a:rPr lang="en-US" sz="3200" b="1" dirty="0">
                <a:solidFill>
                  <a:srgbClr val="232C5E"/>
                </a:solidFill>
                <a:latin typeface="Cambria" pitchFamily="34" charset="0"/>
                <a:ea typeface="Cambria" pitchFamily="34" charset="-122"/>
                <a:cs typeface="Cambria" pitchFamily="34" charset="-120"/>
              </a:rPr>
              <a:t>Flat</a:t>
            </a:r>
            <a:endParaRPr lang="en-US" sz="3200" dirty="0"/>
          </a:p>
        </p:txBody>
      </p:sp>
      <p:sp>
        <p:nvSpPr>
          <p:cNvPr id="9" name="Text 7"/>
          <p:cNvSpPr/>
          <p:nvPr/>
        </p:nvSpPr>
        <p:spPr>
          <a:xfrm>
            <a:off x="640080" y="4123944"/>
            <a:ext cx="3383280" cy="555955"/>
          </a:xfrm>
          <a:prstGeom prst="rect">
            <a:avLst/>
          </a:prstGeom>
          <a:noFill/>
          <a:ln/>
        </p:spPr>
        <p:txBody>
          <a:bodyPr wrap="square" rtlCol="0" anchor="t"/>
          <a:lstStyle/>
          <a:p>
            <a:pPr marL="0" indent="0" algn="ctr">
              <a:buNone/>
            </a:pPr>
            <a:r>
              <a:rPr lang="en-US" sz="1100" dirty="0">
                <a:solidFill>
                  <a:srgbClr val="6B7080"/>
                </a:solidFill>
                <a:latin typeface="Calibri" pitchFamily="34" charset="0"/>
                <a:ea typeface="Calibri" pitchFamily="34" charset="-122"/>
                <a:cs typeface="Calibri" pitchFamily="34" charset="-120"/>
              </a:rPr>
              <a:t>7-day rolling average holds steady</a:t>
            </a:r>
            <a:endParaRPr lang="en-US" sz="1100" dirty="0"/>
          </a:p>
          <a:p>
            <a:pPr marL="0" indent="0" algn="ctr">
              <a:buNone/>
            </a:pPr>
            <a:r>
              <a:rPr lang="en-US" sz="1100" dirty="0">
                <a:solidFill>
                  <a:srgbClr val="6B7080"/>
                </a:solidFill>
                <a:latin typeface="Calibri" pitchFamily="34" charset="0"/>
                <a:ea typeface="Calibri" pitchFamily="34" charset="-122"/>
                <a:cs typeface="Calibri" pitchFamily="34" charset="-120"/>
              </a:rPr>
              <a:t>around 25–26 min — no long-term</a:t>
            </a:r>
            <a:endParaRPr lang="en-US" sz="1100" dirty="0"/>
          </a:p>
          <a:p>
            <a:pPr marL="0" indent="0" algn="ctr">
              <a:buNone/>
            </a:pPr>
            <a:r>
              <a:rPr lang="en-US" sz="1100" dirty="0">
                <a:solidFill>
                  <a:srgbClr val="6B7080"/>
                </a:solidFill>
                <a:latin typeface="Calibri" pitchFamily="34" charset="0"/>
                <a:ea typeface="Calibri" pitchFamily="34" charset="-122"/>
                <a:cs typeface="Calibri" pitchFamily="34" charset="-120"/>
              </a:rPr>
              <a:t>drift; patterns are structural</a:t>
            </a:r>
            <a:endParaRPr lang="en-US" sz="1100" dirty="0"/>
          </a:p>
        </p:txBody>
      </p:sp>
      <p:pic>
        <p:nvPicPr>
          <p:cNvPr id="10" name="Image 0" descr="/mnt/user-data/uploads/TrendOverTime.png"/>
          <p:cNvPicPr>
            <a:picLocks noChangeAspect="1"/>
          </p:cNvPicPr>
          <p:nvPr/>
        </p:nvPicPr>
        <p:blipFill>
          <a:blip r:embed="rId3"/>
          <a:stretch>
            <a:fillRect/>
          </a:stretch>
        </p:blipFill>
        <p:spPr>
          <a:xfrm>
            <a:off x="4343400" y="1645920"/>
            <a:ext cx="7269480" cy="5023085"/>
          </a:xfrm>
          <a:prstGeom prst="rect">
            <a:avLst/>
          </a:prstGeom>
        </p:spPr>
      </p:pic>
      <p:sp>
        <p:nvSpPr>
          <p:cNvPr id="11" name="Shape 8"/>
          <p:cNvSpPr/>
          <p:nvPr/>
        </p:nvSpPr>
        <p:spPr>
          <a:xfrm>
            <a:off x="4343400" y="1645920"/>
            <a:ext cx="7269480" cy="5023085"/>
          </a:xfrm>
          <a:prstGeom prst="rect">
            <a:avLst/>
          </a:prstGeom>
          <a:ln w="12700">
            <a:solidFill>
              <a:srgbClr val="E7E8EF"/>
            </a:solidFill>
            <a:prstDash val="solid"/>
          </a:ln>
        </p:spPr>
      </p:sp>
      <p:sp>
        <p:nvSpPr>
          <p:cNvPr id="12" name="Text 9"/>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Key Insights</a:t>
            </a:r>
            <a:endParaRPr lang="en-US" sz="1000" dirty="0"/>
          </a:p>
        </p:txBody>
      </p:sp>
      <p:sp>
        <p:nvSpPr>
          <p:cNvPr id="13" name="Text 10"/>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C5E"/>
        </a:solidFill>
        <a:effectLst/>
      </p:bgPr>
    </p:bg>
    <p:spTree>
      <p:nvGrpSpPr>
        <p:cNvPr id="1" name=""/>
        <p:cNvGrpSpPr/>
        <p:nvPr/>
      </p:nvGrpSpPr>
      <p:grpSpPr>
        <a:xfrm>
          <a:off x="0" y="0"/>
          <a:ext cx="0" cy="0"/>
          <a:chOff x="0" y="0"/>
          <a:chExt cx="0" cy="0"/>
        </a:xfrm>
      </p:grpSpPr>
      <p:sp>
        <p:nvSpPr>
          <p:cNvPr id="3" name="Text 1"/>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E795"/>
                </a:solidFill>
                <a:latin typeface="Calibri" pitchFamily="34" charset="0"/>
                <a:ea typeface="Calibri" pitchFamily="34" charset="-122"/>
                <a:cs typeface="Calibri" pitchFamily="34" charset="-120"/>
              </a:rPr>
              <a:t>LIVE DASHBOARD</a:t>
            </a:r>
            <a:endParaRPr lang="en-US" sz="1300" dirty="0"/>
          </a:p>
        </p:txBody>
      </p:sp>
      <p:sp>
        <p:nvSpPr>
          <p:cNvPr id="4" name="Text 2"/>
          <p:cNvSpPr/>
          <p:nvPr/>
        </p:nvSpPr>
        <p:spPr>
          <a:xfrm>
            <a:off x="548640" y="658368"/>
            <a:ext cx="1051560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 3-page Power BI dashboard, built for self-serve exploration</a:t>
            </a:r>
            <a:endParaRPr lang="en-US" sz="2600" dirty="0"/>
          </a:p>
        </p:txBody>
      </p:sp>
      <p:pic>
        <p:nvPicPr>
          <p:cNvPr id="5" name="Image 0" descr="/mnt/user-data/uploads/Overview.png"/>
          <p:cNvPicPr>
            <a:picLocks noChangeAspect="1"/>
          </p:cNvPicPr>
          <p:nvPr/>
        </p:nvPicPr>
        <p:blipFill>
          <a:blip r:embed="rId3"/>
          <a:stretch>
            <a:fillRect/>
          </a:stretch>
        </p:blipFill>
        <p:spPr>
          <a:xfrm>
            <a:off x="548640" y="1508760"/>
            <a:ext cx="7040880" cy="4808406"/>
          </a:xfrm>
          <a:prstGeom prst="rect">
            <a:avLst/>
          </a:prstGeom>
        </p:spPr>
      </p:pic>
      <p:sp>
        <p:nvSpPr>
          <p:cNvPr id="6" name="Shape 3"/>
          <p:cNvSpPr/>
          <p:nvPr/>
        </p:nvSpPr>
        <p:spPr>
          <a:xfrm>
            <a:off x="548640" y="1508760"/>
            <a:ext cx="7040880" cy="4808406"/>
          </a:xfrm>
          <a:prstGeom prst="rect">
            <a:avLst/>
          </a:prstGeom>
          <a:ln w="19050">
            <a:solidFill>
              <a:srgbClr val="2F3C7E"/>
            </a:solidFill>
            <a:prstDash val="solid"/>
          </a:ln>
        </p:spPr>
      </p:sp>
      <p:sp>
        <p:nvSpPr>
          <p:cNvPr id="7" name="Text 4"/>
          <p:cNvSpPr/>
          <p:nvPr/>
        </p:nvSpPr>
        <p:spPr>
          <a:xfrm>
            <a:off x="7818120" y="1600200"/>
            <a:ext cx="3931920" cy="320040"/>
          </a:xfrm>
          <a:prstGeom prst="rect">
            <a:avLst/>
          </a:prstGeom>
          <a:noFill/>
          <a:ln/>
        </p:spPr>
        <p:txBody>
          <a:bodyPr wrap="square" rtlCol="0" anchor="ctr"/>
          <a:lstStyle/>
          <a:p>
            <a:pPr marL="0" indent="0">
              <a:buNone/>
            </a:pPr>
            <a:r>
              <a:rPr lang="en-US" sz="1350" b="1" dirty="0">
                <a:solidFill>
                  <a:srgbClr val="F9E795"/>
                </a:solidFill>
                <a:latin typeface="Cambria" pitchFamily="34" charset="0"/>
                <a:ea typeface="Cambria" pitchFamily="34" charset="-122"/>
                <a:cs typeface="Cambria" pitchFamily="34" charset="-120"/>
              </a:rPr>
              <a:t>Page 1 — Executive Overview</a:t>
            </a:r>
            <a:endParaRPr lang="en-US" sz="1350" dirty="0"/>
          </a:p>
        </p:txBody>
      </p:sp>
      <p:sp>
        <p:nvSpPr>
          <p:cNvPr id="8" name="Text 5"/>
          <p:cNvSpPr/>
          <p:nvPr/>
        </p:nvSpPr>
        <p:spPr>
          <a:xfrm>
            <a:off x="7818120" y="1920240"/>
            <a:ext cx="3931920" cy="685800"/>
          </a:xfrm>
          <a:prstGeom prst="rect">
            <a:avLst/>
          </a:prstGeom>
          <a:noFill/>
          <a:ln/>
        </p:spPr>
        <p:txBody>
          <a:bodyPr wrap="square" rtlCol="0" anchor="ctr"/>
          <a:lstStyle/>
          <a:p>
            <a:pPr marL="0" indent="0">
              <a:lnSpc>
                <a:spcPct val="125000"/>
              </a:lnSpc>
              <a:buNone/>
            </a:pPr>
            <a:r>
              <a:rPr lang="en-US" sz="1100" dirty="0">
                <a:solidFill>
                  <a:srgbClr val="C9CCDC"/>
                </a:solidFill>
                <a:latin typeface="Calibri" pitchFamily="34" charset="0"/>
                <a:ea typeface="Calibri" pitchFamily="34" charset="-122"/>
                <a:cs typeface="Calibri" pitchFamily="34" charset="-120"/>
              </a:rPr>
              <a:t>Total orders, avg delivery time, festival impact %, and slow-delivery rate at a glance.</a:t>
            </a:r>
            <a:endParaRPr lang="en-US" sz="1100" dirty="0"/>
          </a:p>
        </p:txBody>
      </p:sp>
      <p:sp>
        <p:nvSpPr>
          <p:cNvPr id="9" name="Text 6"/>
          <p:cNvSpPr/>
          <p:nvPr/>
        </p:nvSpPr>
        <p:spPr>
          <a:xfrm>
            <a:off x="7818120" y="2834640"/>
            <a:ext cx="3931920" cy="320040"/>
          </a:xfrm>
          <a:prstGeom prst="rect">
            <a:avLst/>
          </a:prstGeom>
          <a:noFill/>
          <a:ln/>
        </p:spPr>
        <p:txBody>
          <a:bodyPr wrap="square" rtlCol="0" anchor="ctr"/>
          <a:lstStyle/>
          <a:p>
            <a:pPr marL="0" indent="0">
              <a:buNone/>
            </a:pPr>
            <a:r>
              <a:rPr lang="en-US" sz="1350" b="1" dirty="0">
                <a:solidFill>
                  <a:srgbClr val="F9E795"/>
                </a:solidFill>
                <a:latin typeface="Cambria" pitchFamily="34" charset="0"/>
                <a:ea typeface="Cambria" pitchFamily="34" charset="-122"/>
                <a:cs typeface="Cambria" pitchFamily="34" charset="-120"/>
              </a:rPr>
              <a:t>Page 2 — Delivery Drivers Deep Dive</a:t>
            </a:r>
            <a:endParaRPr lang="en-US" sz="1350" dirty="0"/>
          </a:p>
        </p:txBody>
      </p:sp>
      <p:sp>
        <p:nvSpPr>
          <p:cNvPr id="10" name="Text 7"/>
          <p:cNvSpPr/>
          <p:nvPr/>
        </p:nvSpPr>
        <p:spPr>
          <a:xfrm>
            <a:off x="7818120" y="3154680"/>
            <a:ext cx="3931920" cy="685800"/>
          </a:xfrm>
          <a:prstGeom prst="rect">
            <a:avLst/>
          </a:prstGeom>
          <a:noFill/>
          <a:ln/>
        </p:spPr>
        <p:txBody>
          <a:bodyPr wrap="square" rtlCol="0" anchor="ctr"/>
          <a:lstStyle/>
          <a:p>
            <a:pPr marL="0" indent="0">
              <a:lnSpc>
                <a:spcPct val="125000"/>
              </a:lnSpc>
              <a:buNone/>
            </a:pPr>
            <a:r>
              <a:rPr lang="en-US" sz="1100" dirty="0">
                <a:solidFill>
                  <a:srgbClr val="C9CCDC"/>
                </a:solidFill>
                <a:latin typeface="Calibri" pitchFamily="34" charset="0"/>
                <a:ea typeface="Calibri" pitchFamily="34" charset="-122"/>
                <a:cs typeface="Calibri" pitchFamily="34" charset="-120"/>
              </a:rPr>
              <a:t>Distance, rating, vehicle condition and bundling, all slicer-driven.</a:t>
            </a:r>
            <a:endParaRPr lang="en-US" sz="1100" dirty="0"/>
          </a:p>
        </p:txBody>
      </p:sp>
      <p:sp>
        <p:nvSpPr>
          <p:cNvPr id="11" name="Text 8"/>
          <p:cNvSpPr/>
          <p:nvPr/>
        </p:nvSpPr>
        <p:spPr>
          <a:xfrm>
            <a:off x="7818120" y="4069080"/>
            <a:ext cx="3931920" cy="320040"/>
          </a:xfrm>
          <a:prstGeom prst="rect">
            <a:avLst/>
          </a:prstGeom>
          <a:noFill/>
          <a:ln/>
        </p:spPr>
        <p:txBody>
          <a:bodyPr wrap="square" rtlCol="0" anchor="ctr"/>
          <a:lstStyle/>
          <a:p>
            <a:pPr marL="0" indent="0">
              <a:buNone/>
            </a:pPr>
            <a:r>
              <a:rPr lang="en-US" sz="1350" b="1" dirty="0">
                <a:solidFill>
                  <a:srgbClr val="F9E795"/>
                </a:solidFill>
                <a:latin typeface="Cambria" pitchFamily="34" charset="0"/>
                <a:ea typeface="Cambria" pitchFamily="34" charset="-122"/>
                <a:cs typeface="Cambria" pitchFamily="34" charset="-120"/>
              </a:rPr>
              <a:t>Page 3 — Trend Over Time</a:t>
            </a:r>
            <a:endParaRPr lang="en-US" sz="1350" dirty="0"/>
          </a:p>
        </p:txBody>
      </p:sp>
      <p:sp>
        <p:nvSpPr>
          <p:cNvPr id="12" name="Text 9"/>
          <p:cNvSpPr/>
          <p:nvPr/>
        </p:nvSpPr>
        <p:spPr>
          <a:xfrm>
            <a:off x="7818120" y="4389120"/>
            <a:ext cx="3931920" cy="685800"/>
          </a:xfrm>
          <a:prstGeom prst="rect">
            <a:avLst/>
          </a:prstGeom>
          <a:noFill/>
          <a:ln/>
        </p:spPr>
        <p:txBody>
          <a:bodyPr wrap="square" rtlCol="0" anchor="ctr"/>
          <a:lstStyle/>
          <a:p>
            <a:pPr marL="0" indent="0">
              <a:lnSpc>
                <a:spcPct val="125000"/>
              </a:lnSpc>
              <a:buNone/>
            </a:pPr>
            <a:r>
              <a:rPr lang="en-US" sz="1100" dirty="0">
                <a:solidFill>
                  <a:srgbClr val="C9CCDC"/>
                </a:solidFill>
                <a:latin typeface="Calibri" pitchFamily="34" charset="0"/>
                <a:ea typeface="Calibri" pitchFamily="34" charset="-122"/>
                <a:cs typeface="Calibri" pitchFamily="34" charset="-120"/>
              </a:rPr>
              <a:t>Daily averages smoothed with a 7-day rolling average to separate noise from signal.</a:t>
            </a:r>
            <a:endParaRPr lang="en-US" sz="1100" dirty="0"/>
          </a:p>
        </p:txBody>
      </p:sp>
      <p:sp>
        <p:nvSpPr>
          <p:cNvPr id="13" name="Shape 10"/>
          <p:cNvSpPr/>
          <p:nvPr/>
        </p:nvSpPr>
        <p:spPr>
          <a:xfrm>
            <a:off x="7818120" y="5532120"/>
            <a:ext cx="3291840" cy="502920"/>
          </a:xfrm>
          <a:prstGeom prst="roundRect">
            <a:avLst>
              <a:gd name="adj" fmla="val 49091"/>
            </a:avLst>
          </a:prstGeom>
          <a:solidFill>
            <a:srgbClr val="F96167"/>
          </a:solidFill>
          <a:ln/>
        </p:spPr>
      </p:sp>
      <p:sp>
        <p:nvSpPr>
          <p:cNvPr id="14" name="Text 11"/>
          <p:cNvSpPr/>
          <p:nvPr/>
        </p:nvSpPr>
        <p:spPr>
          <a:xfrm>
            <a:off x="7818120" y="5532120"/>
            <a:ext cx="3291840" cy="5029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hlinkClick r:id="rId4"/>
              </a:rPr>
              <a:t>🔗  Open the Live Interactive Dashboard</a:t>
            </a:r>
            <a:endParaRPr lang="en-US" sz="1150" dirty="0"/>
          </a:p>
        </p:txBody>
      </p:sp>
      <p:sp>
        <p:nvSpPr>
          <p:cNvPr id="15" name="Text 1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C9CCDC"/>
                </a:solidFill>
                <a:latin typeface="Calibri" pitchFamily="34" charset="0"/>
                <a:ea typeface="Calibri" pitchFamily="34" charset="-122"/>
                <a:cs typeface="Calibri" pitchFamily="34" charset="-120"/>
              </a:rPr>
              <a:t>Live Dashboard</a:t>
            </a:r>
            <a:endParaRPr lang="en-US" sz="1000" dirty="0"/>
          </a:p>
        </p:txBody>
      </p:sp>
      <p:sp>
        <p:nvSpPr>
          <p:cNvPr id="16" name="Text 13"/>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C9CCDC"/>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RECOMMENDATIONS</a:t>
            </a:r>
            <a:endParaRPr lang="en-US" sz="13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200" b="1" dirty="0">
                <a:solidFill>
                  <a:srgbClr val="232C5E"/>
                </a:solidFill>
                <a:latin typeface="Cambria" pitchFamily="34" charset="0"/>
                <a:ea typeface="Cambria" pitchFamily="34" charset="-122"/>
                <a:cs typeface="Cambria" pitchFamily="34" charset="-120"/>
              </a:rPr>
              <a:t>Three findings ops can act on this week</a:t>
            </a:r>
            <a:endParaRPr lang="en-US" sz="3200" dirty="0"/>
          </a:p>
        </p:txBody>
      </p:sp>
      <p:sp>
        <p:nvSpPr>
          <p:cNvPr id="4" name="Shape 2"/>
          <p:cNvSpPr/>
          <p:nvPr/>
        </p:nvSpPr>
        <p:spPr>
          <a:xfrm>
            <a:off x="548640" y="1691640"/>
            <a:ext cx="3611880" cy="3931920"/>
          </a:xfrm>
          <a:prstGeom prst="roundRect">
            <a:avLst>
              <a:gd name="adj" fmla="val 2278"/>
            </a:avLst>
          </a:prstGeom>
          <a:solidFill>
            <a:srgbClr val="F7F7F9"/>
          </a:solidFill>
          <a:ln w="12700">
            <a:solidFill>
              <a:srgbClr val="E7E8EF"/>
            </a:solidFill>
            <a:prstDash val="solid"/>
          </a:ln>
          <a:effectLst>
            <a:outerShdw blurRad="76200" dist="25400" dir="5400000" algn="bl" rotWithShape="0">
              <a:srgbClr val="000000">
                <a:alpha val="10000"/>
              </a:srgbClr>
            </a:outerShdw>
          </a:effectLst>
        </p:spPr>
      </p:sp>
      <p:sp>
        <p:nvSpPr>
          <p:cNvPr id="5" name="Shape 3"/>
          <p:cNvSpPr/>
          <p:nvPr/>
        </p:nvSpPr>
        <p:spPr>
          <a:xfrm>
            <a:off x="1943100" y="1965960"/>
            <a:ext cx="822960" cy="822960"/>
          </a:xfrm>
          <a:prstGeom prst="ellipse">
            <a:avLst/>
          </a:prstGeom>
          <a:solidFill>
            <a:srgbClr val="F96167"/>
          </a:solidFill>
          <a:ln/>
        </p:spPr>
      </p:sp>
      <p:sp>
        <p:nvSpPr>
          <p:cNvPr id="6" name="Text 4"/>
          <p:cNvSpPr/>
          <p:nvPr/>
        </p:nvSpPr>
        <p:spPr>
          <a:xfrm>
            <a:off x="1943100" y="196596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7" name="Text 5"/>
          <p:cNvSpPr/>
          <p:nvPr/>
        </p:nvSpPr>
        <p:spPr>
          <a:xfrm>
            <a:off x="777240" y="2971800"/>
            <a:ext cx="3154680" cy="822960"/>
          </a:xfrm>
          <a:prstGeom prst="rect">
            <a:avLst/>
          </a:prstGeom>
          <a:noFill/>
          <a:ln/>
        </p:spPr>
        <p:txBody>
          <a:bodyPr wrap="square" rtlCol="0" anchor="t"/>
          <a:lstStyle/>
          <a:p>
            <a:pPr marL="0" indent="0" algn="ctr">
              <a:buNone/>
            </a:pPr>
            <a:r>
              <a:rPr lang="en-US" sz="1550" b="1" dirty="0">
                <a:solidFill>
                  <a:srgbClr val="232C5E"/>
                </a:solidFill>
                <a:latin typeface="Cambria" pitchFamily="34" charset="0"/>
                <a:ea typeface="Cambria" pitchFamily="34" charset="-122"/>
                <a:cs typeface="Cambria" pitchFamily="34" charset="-120"/>
              </a:rPr>
              <a:t>Pre-plan festival-day staffing</a:t>
            </a:r>
            <a:endParaRPr lang="en-US" sz="1550" dirty="0"/>
          </a:p>
        </p:txBody>
      </p:sp>
      <p:sp>
        <p:nvSpPr>
          <p:cNvPr id="8" name="Text 6"/>
          <p:cNvSpPr/>
          <p:nvPr/>
        </p:nvSpPr>
        <p:spPr>
          <a:xfrm>
            <a:off x="822960" y="3794760"/>
            <a:ext cx="3063240" cy="1691640"/>
          </a:xfrm>
          <a:prstGeom prst="rect">
            <a:avLst/>
          </a:prstGeom>
          <a:noFill/>
          <a:ln/>
        </p:spPr>
        <p:txBody>
          <a:bodyPr wrap="square" rtlCol="0" anchor="ctr"/>
          <a:lstStyle/>
          <a:p>
            <a:pPr marL="0" indent="0" algn="l">
              <a:lnSpc>
                <a:spcPct val="130000"/>
              </a:lnSpc>
              <a:buNone/>
            </a:pPr>
            <a:r>
              <a:rPr lang="en-US" sz="1150" dirty="0">
                <a:solidFill>
                  <a:srgbClr val="23263B"/>
                </a:solidFill>
                <a:latin typeface="Calibri" pitchFamily="34" charset="0"/>
                <a:ea typeface="Calibri" pitchFamily="34" charset="-122"/>
                <a:cs typeface="Calibri" pitchFamily="34" charset="-120"/>
              </a:rPr>
              <a:t>Festival deliveries take 75–80% longer — the single largest effect found. Low volume (896 orders) but high impact makes this a high-ROI, low-effort fix: targeted staffing on known festival dates, not a company-wide change.</a:t>
            </a:r>
            <a:endParaRPr lang="en-US" sz="1150" dirty="0"/>
          </a:p>
        </p:txBody>
      </p:sp>
      <p:sp>
        <p:nvSpPr>
          <p:cNvPr id="9" name="Shape 7"/>
          <p:cNvSpPr/>
          <p:nvPr/>
        </p:nvSpPr>
        <p:spPr>
          <a:xfrm>
            <a:off x="4343400" y="1691640"/>
            <a:ext cx="3611880" cy="3931920"/>
          </a:xfrm>
          <a:prstGeom prst="roundRect">
            <a:avLst>
              <a:gd name="adj" fmla="val 2278"/>
            </a:avLst>
          </a:prstGeom>
          <a:solidFill>
            <a:srgbClr val="F7F7F9"/>
          </a:solidFill>
          <a:ln w="12700">
            <a:solidFill>
              <a:srgbClr val="E7E8EF"/>
            </a:solidFill>
            <a:prstDash val="solid"/>
          </a:ln>
          <a:effectLst>
            <a:outerShdw blurRad="76200" dist="25400" dir="5400000" algn="bl" rotWithShape="0">
              <a:srgbClr val="000000">
                <a:alpha val="10000"/>
              </a:srgbClr>
            </a:outerShdw>
          </a:effectLst>
        </p:spPr>
      </p:sp>
      <p:sp>
        <p:nvSpPr>
          <p:cNvPr id="10" name="Shape 8"/>
          <p:cNvSpPr/>
          <p:nvPr/>
        </p:nvSpPr>
        <p:spPr>
          <a:xfrm>
            <a:off x="5737860" y="1965960"/>
            <a:ext cx="822960" cy="822960"/>
          </a:xfrm>
          <a:prstGeom prst="ellipse">
            <a:avLst/>
          </a:prstGeom>
          <a:solidFill>
            <a:srgbClr val="2F3C7E"/>
          </a:solidFill>
          <a:ln/>
        </p:spPr>
      </p:sp>
      <p:sp>
        <p:nvSpPr>
          <p:cNvPr id="11" name="Text 9"/>
          <p:cNvSpPr/>
          <p:nvPr/>
        </p:nvSpPr>
        <p:spPr>
          <a:xfrm>
            <a:off x="5737860" y="196596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2" name="Text 10"/>
          <p:cNvSpPr/>
          <p:nvPr/>
        </p:nvSpPr>
        <p:spPr>
          <a:xfrm>
            <a:off x="4572000" y="2971800"/>
            <a:ext cx="3154680" cy="822960"/>
          </a:xfrm>
          <a:prstGeom prst="rect">
            <a:avLst/>
          </a:prstGeom>
          <a:noFill/>
          <a:ln/>
        </p:spPr>
        <p:txBody>
          <a:bodyPr wrap="square" rtlCol="0" anchor="t"/>
          <a:lstStyle/>
          <a:p>
            <a:pPr marL="0" indent="0" algn="ctr">
              <a:buNone/>
            </a:pPr>
            <a:r>
              <a:rPr lang="en-US" sz="1550" b="1" dirty="0">
                <a:solidFill>
                  <a:srgbClr val="232C5E"/>
                </a:solidFill>
                <a:latin typeface="Cambria" pitchFamily="34" charset="0"/>
                <a:ea typeface="Cambria" pitchFamily="34" charset="-122"/>
                <a:cs typeface="Cambria" pitchFamily="34" charset="-120"/>
              </a:rPr>
              <a:t>Cap bundled deliveries at 1 extra order</a:t>
            </a:r>
            <a:endParaRPr lang="en-US" sz="1550" dirty="0"/>
          </a:p>
        </p:txBody>
      </p:sp>
      <p:sp>
        <p:nvSpPr>
          <p:cNvPr id="13" name="Text 11"/>
          <p:cNvSpPr/>
          <p:nvPr/>
        </p:nvSpPr>
        <p:spPr>
          <a:xfrm>
            <a:off x="4617720" y="3794760"/>
            <a:ext cx="3063240" cy="1691640"/>
          </a:xfrm>
          <a:prstGeom prst="rect">
            <a:avLst/>
          </a:prstGeom>
          <a:noFill/>
          <a:ln/>
        </p:spPr>
        <p:txBody>
          <a:bodyPr wrap="square" rtlCol="0" anchor="ctr"/>
          <a:lstStyle/>
          <a:p>
            <a:pPr marL="0" indent="0" algn="l">
              <a:lnSpc>
                <a:spcPct val="130000"/>
              </a:lnSpc>
              <a:buNone/>
            </a:pPr>
            <a:r>
              <a:rPr lang="en-US" sz="1150" dirty="0">
                <a:solidFill>
                  <a:srgbClr val="23263B"/>
                </a:solidFill>
                <a:latin typeface="Calibri" pitchFamily="34" charset="0"/>
                <a:ea typeface="Calibri" pitchFamily="34" charset="-122"/>
                <a:cs typeface="Calibri" pitchFamily="34" charset="-120"/>
              </a:rPr>
              <a:t>2–3 bundled orders more than doubles delivery time (22 → 47 min), and the cost accelerates non-linearly. Capping at 1 extra order for time-sensitive deliveries captures most of the efficiency without the steep penalty.</a:t>
            </a:r>
            <a:endParaRPr lang="en-US" sz="1150" dirty="0"/>
          </a:p>
        </p:txBody>
      </p:sp>
      <p:sp>
        <p:nvSpPr>
          <p:cNvPr id="14" name="Shape 12"/>
          <p:cNvSpPr/>
          <p:nvPr/>
        </p:nvSpPr>
        <p:spPr>
          <a:xfrm>
            <a:off x="8138160" y="1691640"/>
            <a:ext cx="3611880" cy="3931920"/>
          </a:xfrm>
          <a:prstGeom prst="roundRect">
            <a:avLst>
              <a:gd name="adj" fmla="val 2278"/>
            </a:avLst>
          </a:prstGeom>
          <a:solidFill>
            <a:srgbClr val="F7F7F9"/>
          </a:solidFill>
          <a:ln w="12700">
            <a:solidFill>
              <a:srgbClr val="E7E8EF"/>
            </a:solidFill>
            <a:prstDash val="solid"/>
          </a:ln>
          <a:effectLst>
            <a:outerShdw blurRad="76200" dist="25400" dir="5400000" algn="bl" rotWithShape="0">
              <a:srgbClr val="000000">
                <a:alpha val="10000"/>
              </a:srgbClr>
            </a:outerShdw>
          </a:effectLst>
        </p:spPr>
      </p:sp>
      <p:sp>
        <p:nvSpPr>
          <p:cNvPr id="15" name="Shape 13"/>
          <p:cNvSpPr/>
          <p:nvPr/>
        </p:nvSpPr>
        <p:spPr>
          <a:xfrm>
            <a:off x="9532620" y="1965960"/>
            <a:ext cx="822960" cy="822960"/>
          </a:xfrm>
          <a:prstGeom prst="ellipse">
            <a:avLst/>
          </a:prstGeom>
          <a:solidFill>
            <a:srgbClr val="2F3C7E"/>
          </a:solidFill>
          <a:ln/>
        </p:spPr>
      </p:sp>
      <p:sp>
        <p:nvSpPr>
          <p:cNvPr id="16" name="Text 14"/>
          <p:cNvSpPr/>
          <p:nvPr/>
        </p:nvSpPr>
        <p:spPr>
          <a:xfrm>
            <a:off x="9532620" y="196596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8366760" y="2971800"/>
            <a:ext cx="3154680" cy="822960"/>
          </a:xfrm>
          <a:prstGeom prst="rect">
            <a:avLst/>
          </a:prstGeom>
          <a:noFill/>
          <a:ln/>
        </p:spPr>
        <p:txBody>
          <a:bodyPr wrap="square" rtlCol="0" anchor="t"/>
          <a:lstStyle/>
          <a:p>
            <a:pPr marL="0" indent="0" algn="ctr">
              <a:buNone/>
            </a:pPr>
            <a:r>
              <a:rPr lang="en-US" sz="1550" b="1" dirty="0">
                <a:solidFill>
                  <a:srgbClr val="232C5E"/>
                </a:solidFill>
                <a:latin typeface="Cambria" pitchFamily="34" charset="0"/>
                <a:ea typeface="Cambria" pitchFamily="34" charset="-122"/>
                <a:cs typeface="Cambria" pitchFamily="34" charset="-120"/>
              </a:rPr>
              <a:t>Use agent ratings for order routing</a:t>
            </a:r>
            <a:endParaRPr lang="en-US" sz="1550" dirty="0"/>
          </a:p>
        </p:txBody>
      </p:sp>
      <p:sp>
        <p:nvSpPr>
          <p:cNvPr id="18" name="Text 16"/>
          <p:cNvSpPr/>
          <p:nvPr/>
        </p:nvSpPr>
        <p:spPr>
          <a:xfrm>
            <a:off x="8412480" y="3794760"/>
            <a:ext cx="3063240" cy="1691640"/>
          </a:xfrm>
          <a:prstGeom prst="rect">
            <a:avLst/>
          </a:prstGeom>
          <a:noFill/>
          <a:ln/>
        </p:spPr>
        <p:txBody>
          <a:bodyPr wrap="square" rtlCol="0" anchor="ctr"/>
          <a:lstStyle/>
          <a:p>
            <a:pPr marL="0" indent="0" algn="l">
              <a:lnSpc>
                <a:spcPct val="130000"/>
              </a:lnSpc>
              <a:buNone/>
            </a:pPr>
            <a:r>
              <a:rPr lang="en-US" sz="1150" dirty="0">
                <a:solidFill>
                  <a:srgbClr val="23263B"/>
                </a:solidFill>
                <a:latin typeface="Calibri" pitchFamily="34" charset="0"/>
                <a:ea typeface="Calibri" pitchFamily="34" charset="-122"/>
                <a:cs typeface="Calibri" pitchFamily="34" charset="-120"/>
              </a:rPr>
              <a:t>4.5+ rated agents deliver in 24 min vs. 34–37 min for every lower bucket — a 10+ minute gap. A strong, easy-to-access signal for prioritizing time-sensitive orders, even though causal direction isn't fully resolved.</a:t>
            </a:r>
            <a:endParaRPr lang="en-US" sz="1150" dirty="0"/>
          </a:p>
        </p:txBody>
      </p:sp>
      <p:sp>
        <p:nvSpPr>
          <p:cNvPr id="19" name="Text 17"/>
          <p:cNvSpPr/>
          <p:nvPr/>
        </p:nvSpPr>
        <p:spPr>
          <a:xfrm>
            <a:off x="548640" y="5806440"/>
            <a:ext cx="11064240" cy="457200"/>
          </a:xfrm>
          <a:prstGeom prst="rect">
            <a:avLst/>
          </a:prstGeom>
          <a:noFill/>
          <a:ln/>
        </p:spPr>
        <p:txBody>
          <a:bodyPr wrap="square" rtlCol="0" anchor="ctr"/>
          <a:lstStyle/>
          <a:p>
            <a:pPr marL="0" indent="0" algn="ctr">
              <a:buNone/>
            </a:pPr>
            <a:r>
              <a:rPr lang="en-US" sz="1200" i="1" dirty="0">
                <a:solidFill>
                  <a:srgbClr val="6B7080"/>
                </a:solidFill>
                <a:latin typeface="Calibri" pitchFamily="34" charset="0"/>
                <a:ea typeface="Calibri" pitchFamily="34" charset="-122"/>
                <a:cs typeface="Calibri" pitchFamily="34" charset="-120"/>
              </a:rPr>
              <a:t>Traffic and weather matter too — but they're conditions ops can't directly control. These three are things ops can act on now.</a:t>
            </a:r>
            <a:endParaRPr lang="en-US" sz="1200" dirty="0"/>
          </a:p>
        </p:txBody>
      </p:sp>
      <p:sp>
        <p:nvSpPr>
          <p:cNvPr id="20" name="Text 18"/>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B7080"/>
                </a:solidFill>
                <a:latin typeface="Calibri" pitchFamily="34" charset="0"/>
                <a:ea typeface="Calibri" pitchFamily="34" charset="-122"/>
                <a:cs typeface="Calibri" pitchFamily="34" charset="-120"/>
              </a:rPr>
              <a:t>Recommendations</a:t>
            </a:r>
            <a:endParaRPr lang="en-US" sz="1000" dirty="0"/>
          </a:p>
        </p:txBody>
      </p:sp>
      <p:sp>
        <p:nvSpPr>
          <p:cNvPr id="21" name="Text 19"/>
          <p:cNvSpPr/>
          <p:nvPr/>
        </p:nvSpPr>
        <p:spPr>
          <a:xfrm>
            <a:off x="7159752" y="6510528"/>
            <a:ext cx="4572000" cy="274320"/>
          </a:xfrm>
          <a:prstGeom prst="rect">
            <a:avLst/>
          </a:prstGeom>
          <a:noFill/>
          <a:ln/>
        </p:spPr>
        <p:txBody>
          <a:bodyPr wrap="square" rtlCol="0" anchor="ctr"/>
          <a:lstStyle/>
          <a:p>
            <a:pPr marL="0" indent="0" algn="r">
              <a:buNone/>
            </a:pPr>
            <a:r>
              <a:rPr lang="en-US" sz="1000" dirty="0">
                <a:solidFill>
                  <a:srgbClr val="6B7080"/>
                </a:solidFill>
                <a:latin typeface="Calibri" pitchFamily="34" charset="0"/>
                <a:ea typeface="Calibri" pitchFamily="34" charset="-122"/>
                <a:cs typeface="Calibri" pitchFamily="34" charset="-120"/>
              </a:rPr>
              <a:t>MealDash — Delivery Operations Analytics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2C5E"/>
        </a:solidFill>
        <a:effectLst/>
      </p:bgPr>
    </p:bg>
    <p:spTree>
      <p:nvGrpSpPr>
        <p:cNvPr id="1" name=""/>
        <p:cNvGrpSpPr/>
        <p:nvPr/>
      </p:nvGrpSpPr>
      <p:grpSpPr>
        <a:xfrm>
          <a:off x="0" y="0"/>
          <a:ext cx="0" cy="0"/>
          <a:chOff x="0" y="0"/>
          <a:chExt cx="0" cy="0"/>
        </a:xfrm>
      </p:grpSpPr>
      <p:sp>
        <p:nvSpPr>
          <p:cNvPr id="4" name="Text 2"/>
          <p:cNvSpPr/>
          <p:nvPr/>
        </p:nvSpPr>
        <p:spPr>
          <a:xfrm>
            <a:off x="548640" y="502920"/>
            <a:ext cx="7315200" cy="320040"/>
          </a:xfrm>
          <a:prstGeom prst="rect">
            <a:avLst/>
          </a:prstGeom>
          <a:noFill/>
          <a:ln/>
        </p:spPr>
        <p:txBody>
          <a:bodyPr wrap="square" rtlCol="0" anchor="ctr"/>
          <a:lstStyle/>
          <a:p>
            <a:pPr marL="0" indent="0">
              <a:buNone/>
            </a:pPr>
            <a:r>
              <a:rPr lang="en-US" sz="1300" b="1" kern="0" spc="200" dirty="0">
                <a:solidFill>
                  <a:srgbClr val="F9E795"/>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548640" y="777240"/>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Work</a:t>
            </a:r>
            <a:endParaRPr lang="en-US" sz="3000" dirty="0"/>
          </a:p>
        </p:txBody>
      </p:sp>
      <p:sp>
        <p:nvSpPr>
          <p:cNvPr id="6" name="Shape 4"/>
          <p:cNvSpPr/>
          <p:nvPr/>
        </p:nvSpPr>
        <p:spPr>
          <a:xfrm>
            <a:off x="548640" y="1691640"/>
            <a:ext cx="457200" cy="457200"/>
          </a:xfrm>
          <a:prstGeom prst="ellipse">
            <a:avLst/>
          </a:prstGeom>
          <a:solidFill>
            <a:srgbClr val="F96167"/>
          </a:solidFill>
          <a:ln/>
        </p:spPr>
      </p:sp>
      <p:sp>
        <p:nvSpPr>
          <p:cNvPr id="7" name="Text 5"/>
          <p:cNvSpPr/>
          <p:nvPr/>
        </p:nvSpPr>
        <p:spPr>
          <a:xfrm>
            <a:off x="548640" y="16916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188720" y="1691640"/>
            <a:ext cx="9875520" cy="457200"/>
          </a:xfrm>
          <a:prstGeom prst="rect">
            <a:avLst/>
          </a:prstGeom>
          <a:noFill/>
          <a:ln/>
        </p:spPr>
        <p:txBody>
          <a:bodyPr wrap="square" rtlCol="0" anchor="ctr"/>
          <a:lstStyle/>
          <a:p>
            <a:pPr marL="0" indent="0">
              <a:buNone/>
            </a:pPr>
            <a:r>
              <a:rPr lang="en-US" sz="1400" dirty="0">
                <a:solidFill>
                  <a:srgbClr val="E7E9F5"/>
                </a:solidFill>
                <a:latin typeface="Calibri" pitchFamily="34" charset="0"/>
                <a:ea typeface="Calibri" pitchFamily="34" charset="-122"/>
                <a:cs typeface="Calibri" pitchFamily="34" charset="-120"/>
              </a:rPr>
              <a:t>Validate the festival-day effect against a full year of festival dates</a:t>
            </a:r>
            <a:endParaRPr lang="en-US" sz="1400" dirty="0"/>
          </a:p>
        </p:txBody>
      </p:sp>
      <p:sp>
        <p:nvSpPr>
          <p:cNvPr id="9" name="Shape 7"/>
          <p:cNvSpPr/>
          <p:nvPr/>
        </p:nvSpPr>
        <p:spPr>
          <a:xfrm>
            <a:off x="548640" y="2313432"/>
            <a:ext cx="457200" cy="457200"/>
          </a:xfrm>
          <a:prstGeom prst="ellipse">
            <a:avLst/>
          </a:prstGeom>
          <a:solidFill>
            <a:srgbClr val="F96167"/>
          </a:solidFill>
          <a:ln/>
        </p:spPr>
      </p:sp>
      <p:sp>
        <p:nvSpPr>
          <p:cNvPr id="10" name="Text 8"/>
          <p:cNvSpPr/>
          <p:nvPr/>
        </p:nvSpPr>
        <p:spPr>
          <a:xfrm>
            <a:off x="548640" y="231343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188720" y="2313432"/>
            <a:ext cx="9875520" cy="457200"/>
          </a:xfrm>
          <a:prstGeom prst="rect">
            <a:avLst/>
          </a:prstGeom>
          <a:noFill/>
          <a:ln/>
        </p:spPr>
        <p:txBody>
          <a:bodyPr wrap="square" rtlCol="0" anchor="ctr"/>
          <a:lstStyle/>
          <a:p>
            <a:pPr marL="0" indent="0">
              <a:buNone/>
            </a:pPr>
            <a:r>
              <a:rPr lang="en-US" sz="1400" dirty="0">
                <a:solidFill>
                  <a:srgbClr val="E7E9F5"/>
                </a:solidFill>
                <a:latin typeface="Calibri" pitchFamily="34" charset="0"/>
                <a:ea typeface="Calibri" pitchFamily="34" charset="-122"/>
                <a:cs typeface="Calibri" pitchFamily="34" charset="-120"/>
              </a:rPr>
              <a:t>Replace straight-line (Haversine) distance with actual road-route distance</a:t>
            </a:r>
            <a:endParaRPr lang="en-US" sz="1400" dirty="0"/>
          </a:p>
        </p:txBody>
      </p:sp>
      <p:sp>
        <p:nvSpPr>
          <p:cNvPr id="12" name="Shape 10"/>
          <p:cNvSpPr/>
          <p:nvPr/>
        </p:nvSpPr>
        <p:spPr>
          <a:xfrm>
            <a:off x="548640" y="2935224"/>
            <a:ext cx="457200" cy="457200"/>
          </a:xfrm>
          <a:prstGeom prst="ellipse">
            <a:avLst/>
          </a:prstGeom>
          <a:solidFill>
            <a:srgbClr val="F96167"/>
          </a:solidFill>
          <a:ln/>
        </p:spPr>
      </p:sp>
      <p:sp>
        <p:nvSpPr>
          <p:cNvPr id="13" name="Text 11"/>
          <p:cNvSpPr/>
          <p:nvPr/>
        </p:nvSpPr>
        <p:spPr>
          <a:xfrm>
            <a:off x="548640" y="293522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88720" y="2935224"/>
            <a:ext cx="9875520" cy="457200"/>
          </a:xfrm>
          <a:prstGeom prst="rect">
            <a:avLst/>
          </a:prstGeom>
          <a:noFill/>
          <a:ln/>
        </p:spPr>
        <p:txBody>
          <a:bodyPr wrap="square" rtlCol="0" anchor="ctr"/>
          <a:lstStyle/>
          <a:p>
            <a:pPr marL="0" indent="0">
              <a:buNone/>
            </a:pPr>
            <a:r>
              <a:rPr lang="en-US" sz="1400" dirty="0">
                <a:solidFill>
                  <a:srgbClr val="E7E9F5"/>
                </a:solidFill>
                <a:latin typeface="Calibri" pitchFamily="34" charset="0"/>
                <a:ea typeface="Calibri" pitchFamily="34" charset="-122"/>
                <a:cs typeface="Calibri" pitchFamily="34" charset="-120"/>
              </a:rPr>
              <a:t>Investigate the direction of causation between agent rating and delivery speed</a:t>
            </a:r>
            <a:endParaRPr lang="en-US" sz="1400" dirty="0"/>
          </a:p>
        </p:txBody>
      </p:sp>
      <p:sp>
        <p:nvSpPr>
          <p:cNvPr id="15" name="Shape 13"/>
          <p:cNvSpPr/>
          <p:nvPr/>
        </p:nvSpPr>
        <p:spPr>
          <a:xfrm>
            <a:off x="548640" y="3557016"/>
            <a:ext cx="457200" cy="457200"/>
          </a:xfrm>
          <a:prstGeom prst="ellipse">
            <a:avLst/>
          </a:prstGeom>
          <a:solidFill>
            <a:srgbClr val="F96167"/>
          </a:solidFill>
          <a:ln/>
        </p:spPr>
      </p:sp>
      <p:sp>
        <p:nvSpPr>
          <p:cNvPr id="16" name="Text 14"/>
          <p:cNvSpPr/>
          <p:nvPr/>
        </p:nvSpPr>
        <p:spPr>
          <a:xfrm>
            <a:off x="548640" y="355701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Text 15"/>
          <p:cNvSpPr/>
          <p:nvPr/>
        </p:nvSpPr>
        <p:spPr>
          <a:xfrm>
            <a:off x="1188720" y="3557016"/>
            <a:ext cx="9875520" cy="457200"/>
          </a:xfrm>
          <a:prstGeom prst="rect">
            <a:avLst/>
          </a:prstGeom>
          <a:noFill/>
          <a:ln/>
        </p:spPr>
        <p:txBody>
          <a:bodyPr wrap="square" rtlCol="0" anchor="ctr"/>
          <a:lstStyle/>
          <a:p>
            <a:pPr marL="0" indent="0">
              <a:buNone/>
            </a:pPr>
            <a:r>
              <a:rPr lang="en-US" sz="1400" dirty="0">
                <a:solidFill>
                  <a:srgbClr val="E7E9F5"/>
                </a:solidFill>
                <a:latin typeface="Calibri" pitchFamily="34" charset="0"/>
                <a:ea typeface="Calibri" pitchFamily="34" charset="-122"/>
                <a:cs typeface="Calibri" pitchFamily="34" charset="-120"/>
              </a:rPr>
              <a:t>Add a live data connection to support ongoing monitoring, not one-time diagnosis</a:t>
            </a:r>
            <a:endParaRPr lang="en-US" sz="1400" dirty="0"/>
          </a:p>
        </p:txBody>
      </p:sp>
      <p:sp>
        <p:nvSpPr>
          <p:cNvPr id="18" name="Shape 16"/>
          <p:cNvSpPr/>
          <p:nvPr/>
        </p:nvSpPr>
        <p:spPr>
          <a:xfrm>
            <a:off x="548640" y="4434840"/>
            <a:ext cx="11064240" cy="0"/>
          </a:xfrm>
          <a:prstGeom prst="line">
            <a:avLst/>
          </a:prstGeom>
          <a:noFill/>
          <a:ln w="12700">
            <a:solidFill>
              <a:srgbClr val="3A4380"/>
            </a:solidFill>
            <a:prstDash val="solid"/>
          </a:ln>
        </p:spPr>
      </p:sp>
      <p:sp>
        <p:nvSpPr>
          <p:cNvPr id="19" name="Text 17"/>
          <p:cNvSpPr/>
          <p:nvPr/>
        </p:nvSpPr>
        <p:spPr>
          <a:xfrm>
            <a:off x="548640" y="4709160"/>
            <a:ext cx="73152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20" name="Text 18"/>
          <p:cNvSpPr/>
          <p:nvPr/>
        </p:nvSpPr>
        <p:spPr>
          <a:xfrm>
            <a:off x="548640" y="5257800"/>
            <a:ext cx="8229600" cy="457200"/>
          </a:xfrm>
          <a:prstGeom prst="rect">
            <a:avLst/>
          </a:prstGeom>
          <a:noFill/>
          <a:ln/>
        </p:spPr>
        <p:txBody>
          <a:bodyPr wrap="square" rtlCol="0" anchor="ctr"/>
          <a:lstStyle/>
          <a:p>
            <a:pPr marL="0" indent="0">
              <a:buNone/>
            </a:pPr>
            <a:r>
              <a:rPr lang="en-US" sz="1300" dirty="0">
                <a:solidFill>
                  <a:srgbClr val="C9CCDC"/>
                </a:solidFill>
                <a:latin typeface="Calibri" pitchFamily="34" charset="0"/>
                <a:ea typeface="Calibri" pitchFamily="34" charset="-122"/>
                <a:cs typeface="Calibri" pitchFamily="34" charset="-120"/>
              </a:rPr>
              <a:t>Open to opportunities, collaborations, and conversations around data analytics.</a:t>
            </a:r>
            <a:endParaRPr lang="en-US" sz="1300" dirty="0"/>
          </a:p>
        </p:txBody>
      </p:sp>
      <p:sp>
        <p:nvSpPr>
          <p:cNvPr id="21" name="Text 19"/>
          <p:cNvSpPr/>
          <p:nvPr/>
        </p:nvSpPr>
        <p:spPr>
          <a:xfrm>
            <a:off x="548640" y="5760720"/>
            <a:ext cx="8229600" cy="365760"/>
          </a:xfrm>
          <a:prstGeom prst="rect">
            <a:avLst/>
          </a:prstGeom>
          <a:noFill/>
          <a:ln/>
        </p:spPr>
        <p:txBody>
          <a:bodyPr wrap="square" rtlCol="0" anchor="ctr"/>
          <a:lstStyle/>
          <a:p>
            <a:pPr marL="0" indent="0">
              <a:buNone/>
            </a:pPr>
            <a:r>
              <a:rPr lang="en-US" sz="1300" b="1" dirty="0">
                <a:solidFill>
                  <a:srgbClr val="F9E795"/>
                </a:solidFill>
                <a:latin typeface="Calibri" pitchFamily="34" charset="0"/>
                <a:ea typeface="Calibri" pitchFamily="34" charset="-122"/>
                <a:cs typeface="Calibri" pitchFamily="34" charset="-120"/>
              </a:rPr>
              <a:t>github.com/seema-kri/MealDash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1135</Words>
  <Application>Microsoft Office PowerPoint</Application>
  <PresentationFormat>Widescreen</PresentationFormat>
  <Paragraphs>174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Seema Kumari</cp:lastModifiedBy>
  <cp:revision>2</cp:revision>
  <dcterms:created xsi:type="dcterms:W3CDTF">2026-08-24T17:59:33Z</dcterms:created>
  <dcterms:modified xsi:type="dcterms:W3CDTF">2026-08-24T18:07:42Z</dcterms:modified>
</cp:coreProperties>
</file>